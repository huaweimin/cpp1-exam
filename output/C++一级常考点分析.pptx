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91695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/>
              </a:rPr>
              <a:t>电子学会 C++ 一级考试 · 常考点分析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CFDDF2"/>
                </a:solidFill>
                <a:latin typeface="微软雅黑"/>
              </a:rPr>
              <a:t>依据《青少年软件编程（CC）等级考试说明》官方考纲整理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1B4B8F"/>
                </a:solidFill>
                <a:latin typeface="微软雅黑"/>
              </a:rPr>
              <a:t>五大知识块 ｜ 单层循环封顶 ｜ 客观题 60% + 编程题 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微软雅黑"/>
              </a:rPr>
              <a:t>本讲重点：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微软雅黑"/>
              </a:rPr>
              <a:t>① 官方考纲五大知识块与题数分布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微软雅黑"/>
              </a:rPr>
              <a:t>② 每个知识块的高频考点与典型考法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微软雅黑"/>
              </a:rPr>
              <a:t>③ 编程题两大热门题型与代码模板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微软雅黑"/>
              </a:rPr>
              <a:t>④ 易错点 TOP5 与备考策略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B7280"/>
                </a:solidFill>
                <a:latin typeface="微软雅黑"/>
              </a:rPr>
              <a:t>少儿编程 C++ Level 1 ｜ 考点精讲配套 · 应试冲刺篇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128016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"/>
            <a:ext cx="9601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考试概况：题型与分值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74320"/>
            <a:ext cx="3566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CFDDF2"/>
                </a:solidFill>
                <a:latin typeface="微软雅黑"/>
              </a:rPr>
              <a:t>官方考试说明 · 表3/表4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72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463040"/>
                <a:gridCol w="1645920"/>
                <a:gridCol w="1463040"/>
                <a:gridCol w="475488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</a:rPr>
                        <a:t>题型</a:t>
                      </a:r>
                    </a:p>
                  </a:txBody>
                  <a:tcPr marL="91440" marR="45720" marT="27432" marB="27432" anchor="ctr">
                    <a:solidFill>
                      <a:srgbClr val="1B4B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</a:rPr>
                        <a:t>题量</a:t>
                      </a:r>
                    </a:p>
                  </a:txBody>
                  <a:tcPr marL="91440" marR="45720" marT="27432" marB="27432" anchor="ctr">
                    <a:solidFill>
                      <a:srgbClr val="1B4B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</a:rPr>
                        <a:t>每题分值</a:t>
                      </a:r>
                    </a:p>
                  </a:txBody>
                  <a:tcPr marL="91440" marR="45720" marT="27432" marB="27432" anchor="ctr">
                    <a:solidFill>
                      <a:srgbClr val="1B4B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</a:rPr>
                        <a:t>小计</a:t>
                      </a:r>
                    </a:p>
                  </a:txBody>
                  <a:tcPr marL="91440" marR="45720" marT="27432" marB="27432" anchor="ctr">
                    <a:solidFill>
                      <a:srgbClr val="1B4B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</a:rPr>
                        <a:t>说明</a:t>
                      </a:r>
                    </a:p>
                  </a:txBody>
                  <a:tcPr marL="91440" marR="45720" marT="27432" marB="27432" anchor="ctr">
                    <a:solidFill>
                      <a:srgbClr val="1B4B8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单选题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10 题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4 分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40 分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五大知识块全覆盖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判断题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10 题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2 分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20 分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概念辨析为主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编程题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2 题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20 分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40 分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只出自 ③顺序结构 ⑤循环结构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合计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22 题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100 分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微软雅黑"/>
                        </a:rPr>
                        <a:t>客观题 60% + 编程题 40%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4206240"/>
            <a:ext cx="5349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206240"/>
            <a:ext cx="82296" cy="21031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9F6E"/>
                </a:solidFill>
                <a:latin typeface="微软雅黑"/>
              </a:rPr>
              <a:t>客观题 = 得分基本盘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736592"/>
            <a:ext cx="4983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单选 + 判断共 60 分，覆盖全部五大知识块。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② 变量与运算 一块就占 4 单选 + 5 判断，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是客观题出题量最大的知识块，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概念题拿稳，60 分基本盘就稳。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206240"/>
            <a:ext cx="53492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4206240"/>
            <a:ext cx="82296" cy="21031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315968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9E0B"/>
                </a:solidFill>
                <a:latin typeface="微软雅黑"/>
              </a:rPr>
              <a:t>编程题 = 过线关键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4736592"/>
            <a:ext cx="4983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2 题编程出自「顺序结构」和「循环结构」。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典型题：数位分离、累加求和。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编译通过 + 结果正确即给分，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规范书写 #include 与 main 框架是第一步。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128016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"/>
            <a:ext cx="9601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考纲五大知识块（表4 题数分布）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74320"/>
            <a:ext cx="3566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CFDDF2"/>
                </a:solidFill>
                <a:latin typeface="微软雅黑"/>
              </a:rPr>
              <a:t>一级考纲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728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097280"/>
                <a:gridCol w="1097280"/>
                <a:gridCol w="1097280"/>
                <a:gridCol w="43891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知识块</a:t>
                      </a:r>
                    </a:p>
                  </a:txBody>
                  <a:tcPr marL="91440" marR="45720" marT="27432" marB="27432" anchor="ctr">
                    <a:solidFill>
                      <a:srgbClr val="1B4B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单选</a:t>
                      </a:r>
                    </a:p>
                  </a:txBody>
                  <a:tcPr marL="91440" marR="45720" marT="27432" marB="27432" anchor="ctr">
                    <a:solidFill>
                      <a:srgbClr val="1B4B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判断</a:t>
                      </a:r>
                    </a:p>
                  </a:txBody>
                  <a:tcPr marL="91440" marR="45720" marT="27432" marB="27432" anchor="ctr">
                    <a:solidFill>
                      <a:srgbClr val="1B4B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编程</a:t>
                      </a:r>
                    </a:p>
                  </a:txBody>
                  <a:tcPr marL="91440" marR="45720" marT="27432" marB="27432" anchor="ctr">
                    <a:solidFill>
                      <a:srgbClr val="1B4B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</a:rPr>
                        <a:t>考察侧重</a:t>
                      </a:r>
                    </a:p>
                  </a:txBody>
                  <a:tcPr marL="91440" marR="45720" marT="27432" marB="27432" anchor="ctr">
                    <a:solidFill>
                      <a:srgbClr val="1B4B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① 编程环境与基础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开发环境使用、程序基本框架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② 变量与运算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4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变量/类型/运算符/输入输出/数学函数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③ 程序基本结构（顺序）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语句顺序、cin/cout、数位分离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④ 选择结构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—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if/else、关系与逻辑运算</a:t>
                      </a:r>
                    </a:p>
                  </a:txBody>
                  <a:tcPr marL="91440" marR="45720" marT="27432" marB="27432" anchor="ctr">
                    <a:solidFill>
                      <a:srgbClr val="EDF2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⑤ 循环结构（单层）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F2937"/>
                          </a:solidFill>
                          <a:latin typeface="微软雅黑"/>
                        </a:rPr>
                        <a:t>for/while、累加累乘、循环次数</a:t>
                      </a:r>
                    </a:p>
                  </a:txBody>
                  <a:tcPr marL="91440" marR="4572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4892040"/>
            <a:ext cx="10972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892040"/>
            <a:ext cx="82296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F2937"/>
                </a:solidFill>
                <a:latin typeface="微软雅黑"/>
              </a:rPr>
              <a:t>⚠ 一级明确不考：数组、字符串(string)、自定义函数、文件读写、多层/嵌套循环、结构体、指针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1F2937"/>
                </a:solidFill>
                <a:latin typeface="微软雅黑"/>
              </a:rPr>
              <a:t>这些全部是二级及以上内容 —— 备考一级不要超纲刷题，把单层循环和运算吃透就够。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128016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"/>
            <a:ext cx="9601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知识块① 编程环境与基础（2单选 + 1判断）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74320"/>
            <a:ext cx="3566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CFDDF2"/>
                </a:solidFill>
                <a:latin typeface="微软雅黑"/>
              </a:rPr>
              <a:t>常考点 1/5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82296" cy="237744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4B8F"/>
                </a:solidFill>
                <a:latin typeface="微软雅黑"/>
              </a:rPr>
              <a:t>高频考点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64792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开发环境：IDE（如 Dev-C++）的 新建/保存/编译/运行 流程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源程序文件扩展名 .cpp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「编译」和「运行」分别做什么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常见编译错误提示与定位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234440"/>
            <a:ext cx="82296" cy="2377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441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9E0B"/>
                </a:solidFill>
                <a:latin typeface="微软雅黑"/>
              </a:rPr>
              <a:t>程序基本框架（必背）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64792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#include &lt;iostream&gt;   // 头文件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using namespace std;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int main() {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    return 0;          // 程序正常结束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10972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886200"/>
            <a:ext cx="82296" cy="2377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023360"/>
            <a:ext cx="104241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常考判断题 / 单选题角度：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· 「C++ 程序必须有且只有一个 main 函数」→ 对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· 「return 0; 写不写都能编译通过，但规范程序要写」→ 对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· 「.cpp 是源文件，编译后生成可执行文件」→ 对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· 「一条语句结束要写分号 ;」→ 对（漏分号是最常见编译错误）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128016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"/>
            <a:ext cx="9601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知识块② 变量与运算（4单选 + 5判断 · 客观题最大头）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74320"/>
            <a:ext cx="3566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CFDDF2"/>
                </a:solidFill>
                <a:latin typeface="微软雅黑"/>
              </a:rPr>
              <a:t>常考点 2/5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53949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82296" cy="251460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4B8F"/>
                </a:solidFill>
                <a:latin typeface="微软雅黑"/>
              </a:rPr>
              <a:t>高频考点清单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64792"/>
            <a:ext cx="502920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变量定义与命名规则（字母/数字/下划线，数字不开头）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数据类型：int / long long / float / double / char / bool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赋值语句 = 的含义（先算右边，再存左边）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算术运算符 + - * / % 及优先级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自增自减 i++ / ++i 的取值时机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53949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234440"/>
            <a:ext cx="82296" cy="2514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441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9E0B"/>
                </a:solidFill>
                <a:latin typeface="微软雅黑"/>
              </a:rPr>
              <a:t>输入输出与数学函数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64792"/>
            <a:ext cx="502920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cin &gt;&gt; a &gt;&gt; b; 与 cout &lt;&lt; a &lt;&lt; endl;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cin 按空格/回车分隔读入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整数除法截断：5 / 2 = 2，不是 2.5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取余 % 只能用于整数：5 % 2 = 1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常用函数：sqrt()、fabs()、pow()（需 &lt;cmath&gt;）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728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77639"/>
            <a:ext cx="82296" cy="2286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114800"/>
            <a:ext cx="104241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典型考法示例：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· int a = 7 / 2;        → a = 3（整数除法向下截断）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· int a = 7 % 2;        → a = 1（取余）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· int x = 3; cout &lt;&lt; x++; → 输出 3（先取值后加）；cout &lt;&lt; ++x; → 输出 4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· 变量命名判断：3abc ✗ / my_age ✓ / int ✗（关键字）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128016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"/>
            <a:ext cx="9601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知识块③ 程序基本结构 · 顺序结构（1单选 + 1判断 + 1编程）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74320"/>
            <a:ext cx="3566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CFDDF2"/>
                </a:solidFill>
                <a:latin typeface="微软雅黑"/>
              </a:rPr>
              <a:t>常考点 3/5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5394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82296" cy="219456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4B8F"/>
                </a:solidFill>
                <a:latin typeface="微软雅黑"/>
              </a:rPr>
              <a:t>考点要点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64792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程序自上而下、逐句执行，顺序不能随意调换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「先输入、再计算、后输出」的经典三段式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输出格式：endl / \n 换行，多个 &lt;&lt; 串联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53949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234440"/>
            <a:ext cx="82296" cy="2194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441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9E0B"/>
                </a:solidFill>
                <a:latin typeface="微软雅黑"/>
              </a:rPr>
              <a:t>编程题热门：数位分离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64792"/>
            <a:ext cx="50292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输入一个三位正整数，分别输出个位、十位、百位。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核心工具：%（取余）和 /（整除）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变式：求各位数字之和、反转三位数。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657600"/>
            <a:ext cx="10972800" cy="260604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749040"/>
            <a:ext cx="10652760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// 数位分离模板（顺序结构编程题高频）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#include &lt;iostream&gt;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using namespace std;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int main() {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    int n;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    cin &gt;&gt; n;              // 输入 385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    int g = n % 10;        // 个位 5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    int s = n / 10 % 10;   // 十位 8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    int b = n / 100;       // 百位 3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    cout &lt;&lt; b &lt;&lt; " " &lt;&lt; s &lt;&lt; " " &lt;&lt; g &lt;&lt; endl;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    return 0;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128016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"/>
            <a:ext cx="9601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知识块④ 选择结构（1单选 + 1判断）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74320"/>
            <a:ext cx="3566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CFDDF2"/>
                </a:solidFill>
                <a:latin typeface="微软雅黑"/>
              </a:rPr>
              <a:t>常考点 4/5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82296" cy="237744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4B8F"/>
                </a:solidFill>
                <a:latin typeface="微软雅黑"/>
              </a:rPr>
              <a:t>高频考点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64792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单分支 if / 双分支 if-else / 多分支 else-if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关系运算符 &gt; &lt; &gt;= &lt;= == !=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逻辑运算符 &amp;&amp;（与）||（或）!（非）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条件嵌套与代码缩进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234440"/>
            <a:ext cx="82296" cy="2377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441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9E0B"/>
                </a:solidFill>
                <a:latin typeface="微软雅黑"/>
              </a:rPr>
              <a:t>易混易错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64792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== 是判断，= 是赋值：if(a == 5) ✓ if(a = 5) ✗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1 &lt;= x &lt;= 10 是数学写法，C++ 要写 x &gt;= 1 &amp;&amp; x &lt;= 10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逻辑短路：&amp;&amp; 左边为假则不算右边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40480"/>
            <a:ext cx="10972800" cy="237744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10652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BE9C6"/>
                </a:solidFill>
                <a:latin typeface="微软雅黑"/>
              </a:rPr>
              <a:t>// 成绩判断：多分支典型写法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8BE9C6"/>
                </a:solidFill>
                <a:latin typeface="微软雅黑"/>
              </a:rPr>
              <a:t>int score;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8BE9C6"/>
                </a:solidFill>
                <a:latin typeface="微软雅黑"/>
              </a:rPr>
              <a:t>cin &gt;&gt; score;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8BE9C6"/>
                </a:solidFill>
                <a:latin typeface="微软雅黑"/>
              </a:rPr>
              <a:t>if (score &gt;= 90)      cout &lt;&lt; "优秀";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8BE9C6"/>
                </a:solidFill>
                <a:latin typeface="微软雅黑"/>
              </a:rPr>
              <a:t>else if (score &gt;= 60) cout &lt;&lt; "及格";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8BE9C6"/>
                </a:solidFill>
                <a:latin typeface="微软雅黑"/>
              </a:rPr>
              <a:t>else                  cout &lt;&lt; "不及格";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128016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"/>
            <a:ext cx="9601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知识块⑤ 循环结构 · 单层（2单选 + 2判断 + 1编程）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74320"/>
            <a:ext cx="3566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CFDDF2"/>
                </a:solidFill>
                <a:latin typeface="微软雅黑"/>
              </a:rPr>
              <a:t>常考点 5/5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82296" cy="237744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4B8F"/>
                </a:solidFill>
                <a:latin typeface="微软雅黑"/>
              </a:rPr>
              <a:t>高频考点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64792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for(初值; 条件; 更新) 执行流程与次数计算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while(条件) 与 do-while（先执行一次再判断）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累加器 sum、计数器 cnt 的用法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死循环成因：条件恒真 / 忘记更新循环变量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34440"/>
            <a:ext cx="5394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234440"/>
            <a:ext cx="82296" cy="2377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441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9E0B"/>
                </a:solidFill>
                <a:latin typeface="微软雅黑"/>
              </a:rPr>
              <a:t>编程题热门题型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64792"/>
            <a:ext cx="50292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累加：1+2+…+n、1~n 偶数之和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累乘：n!（阶乘）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循环内判断：能被 3 整除的数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· 循环读入 n 个数求和（cin &gt;&gt; x 连续读）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40480"/>
            <a:ext cx="10972800" cy="237744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10652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// 1~n 累加（循环编程题模板）          // 循环次数判断（单选题典型）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int n, sum = 0;                       // for (int i = 0; i &lt; 5; i++) 执行几次？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cin &gt;&gt; n;                             // → 5 次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for (int i = 1; i &lt;= n; i++)          // for (int i = 1; i &lt;= 5; i++) 呢？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    sum += i;                         // → 也是 5 次（边界 &lt;= 要看清）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8BE9C6"/>
                </a:solidFill>
                <a:latin typeface="微软雅黑"/>
              </a:rPr>
              <a:t>cout &lt;&lt; sum &lt;&lt; endl;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128016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"/>
            <a:ext cx="9601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编程题怎么考：两大热门题型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74320"/>
            <a:ext cx="3566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CFDDF2"/>
                </a:solidFill>
                <a:latin typeface="微软雅黑"/>
              </a:rPr>
              <a:t>2 题 × 20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80160"/>
            <a:ext cx="82296" cy="228600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8988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4B8F"/>
                </a:solidFill>
                <a:latin typeface="微软雅黑"/>
              </a:rPr>
              <a:t>题型一：数位分离类（顺序结构）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10512"/>
            <a:ext cx="5029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· 拆出个位/十位/百位并输出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· 求各位数字之和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· 三位数反转输出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核心：n % 10 与 n / 10 的组合运用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82296" cy="2286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8988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9E0B"/>
                </a:solidFill>
                <a:latin typeface="微软雅黑"/>
              </a:rPr>
              <a:t>题型二：循环累加类（循环结构）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10512"/>
            <a:ext cx="5029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· 1+2+…+n 求和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· 1~n 中偶数/奇数之和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· n! 阶乘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核心：初始化 sum=0（或 cnt=0）+ for 循环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94760"/>
            <a:ext cx="1097280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94760"/>
            <a:ext cx="82296" cy="251460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31920"/>
            <a:ext cx="104241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编程题拿分四步走：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① 认真读题：明确输入是什么、输出什么（先手算一组样例）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② 搭好框架：#include &lt;iostream&gt; + using namespace std; + int main() { ... return 0; }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③ 选对工具：拆位用 % 和 /，重复计算用 for/while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937"/>
                </a:solidFill>
                <a:latin typeface="微软雅黑"/>
              </a:rPr>
              <a:t>④ 检查输出格式：空格、换行、有无提示文字，务必与题目要求一致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128016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"/>
            <a:ext cx="9601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易错点 TOP5（真题高频失分点）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74320"/>
            <a:ext cx="3566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CFDDF2"/>
                </a:solidFill>
                <a:latin typeface="微软雅黑"/>
              </a:rPr>
              <a:t>避坑清单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109728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80160"/>
            <a:ext cx="685800" cy="93268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80160"/>
            <a:ext cx="6858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53312"/>
            <a:ext cx="2834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4B8F"/>
                </a:solidFill>
                <a:latin typeface="微软雅黑"/>
              </a:rPr>
              <a:t>整数除法截断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353312"/>
            <a:ext cx="6949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5 / 2 = 2 而不是 2.5；需要小数结果时写成 5.0 / 2 或 5 / 2.0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04288"/>
            <a:ext cx="109728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304288"/>
            <a:ext cx="685800" cy="93268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6858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377440"/>
            <a:ext cx="2834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4B8F"/>
                </a:solidFill>
                <a:latin typeface="微软雅黑"/>
              </a:rPr>
              <a:t>= 与 == 混用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377440"/>
            <a:ext cx="6949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if (a = 5) 是赋值永远为真；判断相等必须写 if (a == 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28416"/>
            <a:ext cx="109728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328416"/>
            <a:ext cx="685800" cy="93268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28416"/>
            <a:ext cx="6858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401568"/>
            <a:ext cx="2834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4B8F"/>
                </a:solidFill>
                <a:latin typeface="微软雅黑"/>
              </a:rPr>
              <a:t>取余限制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401568"/>
            <a:ext cx="6949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% 只能用于整数，5.5 % 2 直接编译报错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352544"/>
            <a:ext cx="109728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52544"/>
            <a:ext cx="685800" cy="93268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352544"/>
            <a:ext cx="6858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425696"/>
            <a:ext cx="2834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4B8F"/>
                </a:solidFill>
                <a:latin typeface="微软雅黑"/>
              </a:rPr>
              <a:t>循环边界差一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425696"/>
            <a:ext cx="6949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i &lt;= n 与 i &lt; n 循环次数不同；数错次数是单选题最爱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376672"/>
            <a:ext cx="109728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76672"/>
            <a:ext cx="685800" cy="93268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76672"/>
            <a:ext cx="6858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49824"/>
            <a:ext cx="28346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4B8F"/>
                </a:solidFill>
                <a:latin typeface="微软雅黑"/>
              </a:rPr>
              <a:t>变量未初始化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449824"/>
            <a:ext cx="6949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F2937"/>
                </a:solidFill>
                <a:latin typeface="微软雅黑"/>
              </a:rPr>
              <a:t>sum 没有先赋 0 就累加，结果是随机数；循环变量忘记更新导致死循环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128016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"/>
            <a:ext cx="9601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高频代码模板（一页速记）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74320"/>
            <a:ext cx="3566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CFDDF2"/>
                </a:solidFill>
                <a:latin typeface="微软雅黑"/>
              </a:rPr>
              <a:t>考场直接套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4B8F"/>
                </a:solidFill>
                <a:latin typeface="微软雅黑"/>
              </a:rPr>
              <a:t>① 数位分离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394960" cy="214884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45920"/>
            <a:ext cx="507492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int n, g, s, b;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cin &gt;&gt; n;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g = n % 10;      // 个位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s = n / 10 % 10; // 十位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b = n / 100;     // 百位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cout &lt;&lt; g + s + b; // 各位之和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14300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4B8F"/>
                </a:solidFill>
                <a:latin typeface="微软雅黑"/>
              </a:rPr>
              <a:t>② 累加求和（1~n 偶数和）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554480"/>
            <a:ext cx="5394960" cy="214884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45920"/>
            <a:ext cx="507492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int n, sum = 0;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cin &gt;&gt; n;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for (int i = 2; i &lt;= n; i += 2)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    sum += i;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cout &lt;&lt; sum &lt;&lt; endl;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// 奇数和：i 从 1 开始，i +=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8620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4B8F"/>
                </a:solidFill>
                <a:latin typeface="微软雅黑"/>
              </a:rPr>
              <a:t>③ 阶乘 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97680"/>
            <a:ext cx="5394960" cy="20116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50749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long long f = 1;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int n;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cin &gt;&gt; n;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for (int i = 1; i &lt;= n; i++)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    f *= i;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cout &lt;&lt; f &lt;&lt; endl;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388620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4B8F"/>
                </a:solidFill>
                <a:latin typeface="微软雅黑"/>
              </a:rPr>
              <a:t>④ 基本程序框架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4297680"/>
            <a:ext cx="5394960" cy="20116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389120"/>
            <a:ext cx="50749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#include &lt;iostream&gt;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using namespace std;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int main() {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    // 你的代码写在这里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    return 0;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E9C6"/>
                </a:solidFill>
                <a:latin typeface="微软雅黑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128016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"/>
            <a:ext cx="9601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备考策略：三阶段冲刺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74320"/>
            <a:ext cx="3566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CFDDF2"/>
                </a:solidFill>
                <a:latin typeface="微软雅黑"/>
              </a:rPr>
              <a:t>考前三步走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82296" cy="265176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3560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4B8F"/>
                </a:solidFill>
                <a:latin typeface="微软雅黑"/>
              </a:rPr>
              <a:t>第一阶段 · 打基础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56232"/>
            <a:ext cx="31546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对照五大知识块过一遍概念；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每块整理 1 页笔记；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把基本程序框架默写 10 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2" y="1325880"/>
            <a:ext cx="35204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1325880"/>
            <a:ext cx="82296" cy="26517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143560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9E0B"/>
                </a:solidFill>
                <a:latin typeface="微软雅黑"/>
              </a:rPr>
              <a:t>第二阶段 · 刷真题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1856232"/>
            <a:ext cx="31546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以顺序结构和单层循环的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基础题为主（不超纲刷数组/嵌套）；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客观题按知识块分类订正。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1584" y="1325880"/>
            <a:ext cx="35204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4" y="1325880"/>
            <a:ext cx="82296" cy="265176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0184" y="143560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9F6E"/>
                </a:solidFill>
                <a:latin typeface="微软雅黑"/>
              </a:rPr>
              <a:t>第三阶段 · 考前一周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1856232"/>
            <a:ext cx="31546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每天 1 套模拟：限时做完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单选+判断+2 道编程；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背熟高频代码模板，练手写。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109728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80"/>
            <a:ext cx="82296" cy="20116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480560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给家长的提示：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· 一级是入门级认证，重点考察「写对基础程序」而不是「会高级语法」，不要让孩子提前学数组、嵌套循环等二级内容增加负担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· 编程题不要求算法巧妙，只要编译通过、样例正确即可拿分——让孩子养成「先手算样例再写代码」的习惯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· 平时练习建议使用与考场一致的 IDE 环境，熟悉编译、运行、看错误提示的全流程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4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256032"/>
            <a:ext cx="128016" cy="457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8016"/>
            <a:ext cx="9601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一页纸速记卡（总复习 / 可打印）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74320"/>
            <a:ext cx="3566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CFDDF2"/>
                </a:solidFill>
                <a:latin typeface="微软雅黑"/>
              </a:rPr>
              <a:t>背完这页就去考试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53949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17320"/>
            <a:ext cx="49377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【五大知识块】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① 环境与框架：#include + main + return 0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② 变量运算：int/double、= 赋值、+ - * / %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③ 顺序结构：cin → 计算 → cout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④ 选择结构：if / else-if、== !=、&amp;&amp; || !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⑤ 循环结构：for / while、sum 累加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【必背公式】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个位 = n % 10    十位 = n / 10 % 10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百位 = n / 100   累加先 sum = 0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234440"/>
            <a:ext cx="539496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17320"/>
            <a:ext cx="49377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【得分策略】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· 客观题 60 分：概念题逐条对照速记卡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· 编程题 40 分：数位分离 + 循环累加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· 先搭框架，再填逻辑，最后对样例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【不考提醒】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数组 / 字符串 / 函数 / 文件 / 嵌套循环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→ 都是二级内容，一级别浪费时间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【临场检查】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= 还是 == ？  分号有没有漏？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937"/>
                </a:solidFill>
                <a:latin typeface="微软雅黑"/>
              </a:rPr>
              <a:t>sum 初始化了吗？ 循环边界 &lt;= 还是 &lt; 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