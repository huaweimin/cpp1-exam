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2191695" cy="1371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0" y="365760"/>
            <a:ext cx="137160" cy="1371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15600" y="365760"/>
            <a:ext cx="137160" cy="1371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0" y="365760"/>
            <a:ext cx="137160" cy="1371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C++ 一级考试 · 常考点分析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Microsoft YaHei"/>
              </a:rPr>
              <a:t>真题驱动的频次分布 · 易错点速记 · 备考策略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Microsoft YaHei"/>
              </a:rPr>
              <a:t>青少年软件编程等级考试 · 配套精讲讲义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91840"/>
            <a:ext cx="3566160" cy="2194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291840"/>
            <a:ext cx="3566160" cy="914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1F4E79"/>
                </a:solidFill>
                <a:latin typeface="Microsoft YaHei"/>
              </a:rPr>
              <a:t>147+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8056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Microsoft YaHei"/>
              </a:rPr>
              <a:t>真题样本量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920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Microsoft YaHei"/>
              </a:rPr>
              <a:t>覆盖近 30 场考试
真题 + 模拟题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3291840"/>
            <a:ext cx="3566160" cy="2194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3291840"/>
            <a:ext cx="3566160" cy="914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365760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1F4E79"/>
                </a:solidFill>
                <a:latin typeface="Microsoft YaHei"/>
              </a:rPr>
              <a:t>8 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48056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Microsoft YaHei"/>
              </a:rPr>
              <a:t>高频考点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8920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Microsoft YaHei"/>
              </a:rPr>
              <a:t>顺序 · 分支 · 循环
数组 · 字符 · 函数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3291840"/>
            <a:ext cx="3566160" cy="2194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3291840"/>
            <a:ext cx="3566160" cy="914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365760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1F4E79"/>
                </a:solidFill>
                <a:latin typeface="Microsoft YaHei"/>
              </a:rPr>
              <a:t>TOP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48056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Microsoft YaHei"/>
              </a:rPr>
              <a:t>易错题型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8920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Microsoft YaHei"/>
              </a:rPr>
              <a:t>运算符优先级 · 数位分离
循环边界 · 输入输出格式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</a:rPr>
              <a:t>配套讲义：C++一级考点精讲.pptx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icrosoft YaHei"/>
              </a:rPr>
              <a:t>出题依据：中国电子学会青少年软件编程等级考试标准（C++一级）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考试概况 · 题型与分值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Microsoft YaHei"/>
              </a:rPr>
              <a:t>2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669280" cy="23774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137160" cy="23774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Microsoft YaHei"/>
              </a:rPr>
              <a:t>基本信息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Microsoft YaHei"/>
              </a:rPr>
              <a:t>考试时长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6916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90 分钟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Microsoft YaHei"/>
              </a:rPr>
              <a:t>总分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19659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100 分（合格线 60 分）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402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Microsoft YaHei"/>
              </a:rPr>
              <a:t>题量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2402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共 30 题（25 单选 + 5 判断）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5146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Microsoft YaHei"/>
              </a:rPr>
              <a:t>题型分布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51460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单选题 75 分（每题 3 分）+ 判断题 25 分（每题 5 分）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7889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Microsoft YaHei"/>
              </a:rPr>
              <a:t>考试形式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7889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上机答题，无编程题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063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Microsoft YaHei"/>
              </a:rPr>
              <a:t>语言环境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30632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Dev-C++ 5.11（仅作参考）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097280"/>
            <a:ext cx="5303520" cy="2377440"/>
          </a:xfrm>
          <a:prstGeom prst="rect">
            <a:avLst/>
          </a:prstGeom>
          <a:solidFill>
            <a:srgbClr val="DD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2344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Microsoft YaHei"/>
              </a:rPr>
              <a:t>题型分值占比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8288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Microsoft YaHei"/>
              </a:rPr>
              <a:t>单选 75 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1874519"/>
            <a:ext cx="3474720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37744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Microsoft YaHei"/>
              </a:rPr>
              <a:t>判断 25 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2423160"/>
            <a:ext cx="1161288" cy="2743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926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Microsoft YaHei"/>
              </a:rPr>
              <a:t>💡 策略：单选题性价比高（3 分/题），判断题分值大（5 分/题）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657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Microsoft YaHei"/>
              </a:rPr>
              <a:t>能力考核目标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457200" y="4114800"/>
          <a:ext cx="1124711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1895"/>
                <a:gridCol w="2765685"/>
                <a:gridCol w="1106274"/>
                <a:gridCol w="6453265"/>
              </a:tblGrid>
              <a:tr h="457200"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序号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能力目标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占比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基本编程语言能力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30%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理解变量、数据类型、运算符、表达式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基本数据结构认知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25%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理解数组、字符串的基本概念与操作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程序设计能力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35%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顺序/分支/循环三种结构的综合运用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问题求解能力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10%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分析问题、提炼算法思路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601968"/>
            <a:ext cx="109728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</a:rPr>
              <a:t>C++ 一级常考点分析  ·  数据来源：青少年软件编程等级考试真题集（C++ 一级）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考点频次分布 · TOP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Microsoft YaHei"/>
              </a:rPr>
              <a:t>3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</a:rPr>
              <a:t>基于 147+ 道真题统计的高频考点（按出现频次降序）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Microsoft YaHei"/>
              </a:rPr>
              <a:t>数位分离 / 数位处理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618488"/>
            <a:ext cx="6917436" cy="3474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69196" y="1508760"/>
            <a:ext cx="731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Microsoft YaHei"/>
              </a:rPr>
              <a:t>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1508760"/>
            <a:ext cx="1097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Microsoft YaHei"/>
              </a:rPr>
              <a:t>🔥 必考之王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75688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Microsoft YaHei"/>
              </a:rPr>
              <a:t>循环结构（for / while）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2185416"/>
            <a:ext cx="5596128" cy="34747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2075688"/>
            <a:ext cx="731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icrosoft YaHei"/>
              </a:rPr>
              <a:t>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2075688"/>
            <a:ext cx="1097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Microsoft YaHei"/>
              </a:rPr>
              <a:t>高频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42616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Microsoft YaHei"/>
              </a:rPr>
              <a:t>分支结构（if / else）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2752344"/>
            <a:ext cx="4507992" cy="34747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59752" y="2642616"/>
            <a:ext cx="731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icrosoft YaHei"/>
              </a:rPr>
              <a:t>58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2642616"/>
            <a:ext cx="1097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Microsoft YaHei"/>
              </a:rPr>
              <a:t>高频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09544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Microsoft YaHei"/>
              </a:rPr>
              <a:t>数组（一维）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3319272"/>
            <a:ext cx="3497580" cy="347472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9340" y="3209544"/>
            <a:ext cx="731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70AD47"/>
                </a:solidFill>
                <a:latin typeface="Microsoft YaHei"/>
              </a:rPr>
              <a:t>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3209544"/>
            <a:ext cx="1097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70AD47"/>
                </a:solidFill>
                <a:latin typeface="Microsoft YaHei"/>
              </a:rPr>
              <a:t>常考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776472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Microsoft YaHei"/>
              </a:rPr>
              <a:t>运算符与表达式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3886200"/>
            <a:ext cx="3264408" cy="347472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16168" y="3776472"/>
            <a:ext cx="731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70AD47"/>
                </a:solidFill>
                <a:latin typeface="Microsoft YaHei"/>
              </a:rPr>
              <a:t>42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3776472"/>
            <a:ext cx="1097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70AD47"/>
                </a:solidFill>
                <a:latin typeface="Microsoft YaHei"/>
              </a:rPr>
              <a:t>常考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343400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Microsoft YaHei"/>
              </a:rPr>
              <a:t>字符与 ASCII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4453128"/>
            <a:ext cx="2953512" cy="347472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05272" y="4343400"/>
            <a:ext cx="731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70AD47"/>
                </a:solidFill>
                <a:latin typeface="Microsoft YaHei"/>
              </a:rPr>
              <a:t>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4343400"/>
            <a:ext cx="1097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70AD47"/>
                </a:solidFill>
                <a:latin typeface="Microsoft YaHei"/>
              </a:rPr>
              <a:t>常考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910328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Microsoft YaHei"/>
              </a:rPr>
              <a:t>输入输出格式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5020056"/>
            <a:ext cx="2720340" cy="34747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72100" y="4910328"/>
            <a:ext cx="731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E67E22"/>
                </a:solidFill>
                <a:latin typeface="Microsoft YaHei"/>
              </a:rPr>
              <a:t>35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4910328"/>
            <a:ext cx="1097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67E22"/>
                </a:solidFill>
                <a:latin typeface="Microsoft YaHei"/>
              </a:rPr>
              <a:t>必考基础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477256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Microsoft YaHei"/>
              </a:rPr>
              <a:t>函数定义与调用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5586984"/>
            <a:ext cx="1709928" cy="347472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61688" y="5477256"/>
            <a:ext cx="731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66666"/>
                </a:solidFill>
                <a:latin typeface="Microsoft YaHei"/>
              </a:rPr>
              <a:t>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5477256"/>
            <a:ext cx="1097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Microsoft YaHei"/>
              </a:rPr>
              <a:t>次频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solidFill>
            <a:srgbClr val="F8C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Microsoft YaHei"/>
              </a:rPr>
              <a:t>⚠ 结论：数位分离 + 循环结构合计占 60% 以上，是复习性价比最高的模块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601968"/>
            <a:ext cx="109728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</a:rPr>
              <a:t>C++ 一级常考点分析  ·  数据来源：青少年软件编程等级考试真题集（C++ 一级）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顺序结构 · 输入输出与变量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Microsoft YaHei"/>
              </a:rPr>
              <a:t>4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02920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高频考点 TOP 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91440" cy="5029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Microsoft YaHei"/>
              </a:rPr>
              <a:t>#1 输入输出格式控制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69164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printf / cin / scanf 的格式符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5029200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91440" cy="5029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Microsoft YaHei"/>
              </a:rPr>
              <a:t>#2 变量定义与赋值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28600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int / double / char 的声明规则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80360"/>
            <a:ext cx="5029200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880360"/>
            <a:ext cx="91440" cy="5029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8803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Microsoft YaHei"/>
              </a:rPr>
              <a:t>#3 运算符与表达式求值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288036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+ - * / % ++ -- 的运算规则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474720"/>
            <a:ext cx="5029200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474720"/>
            <a:ext cx="91440" cy="5029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47472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Microsoft YaHei"/>
              </a:rPr>
              <a:t>#4 复合赋值运算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347472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a += 5; a *= b+1; 的等价展开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1051560"/>
            <a:ext cx="5943600" cy="4572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105156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真题示例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1691640"/>
            <a:ext cx="5943600" cy="2286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1783080"/>
            <a:ext cx="56692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333333"/>
                </a:solidFill>
                <a:latin typeface="Microsoft YaHei"/>
              </a:rPr>
              <a:t>【真题】执行以下代码后，x 的值是？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int a = 5, b = 3;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int x = (a++ &gt; b) ? a : b;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1F4E79"/>
                </a:solidFill>
                <a:latin typeface="Microsoft YaHei"/>
              </a:rPr>
              <a:t>A. 3    B. 5    C. 6    D. 4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C0392B"/>
                </a:solidFill>
                <a:latin typeface="Microsoft YaHei"/>
              </a:rPr>
              <a:t>【答案】C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【解析】a++ &gt; b：先用 5 与 3 比较，结果 true，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a 随后自增为 6。条件为真，返回 a = 6，x = 6。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4160520"/>
            <a:ext cx="5943600" cy="2103120"/>
          </a:xfrm>
          <a:prstGeom prst="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429768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67E22"/>
                </a:solidFill>
                <a:latin typeface="Microsoft YaHei"/>
              </a:rPr>
              <a:t>📌 顺序结构三大易错点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663440"/>
            <a:ext cx="56692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① a++ 与 ++a：前者先用后加，后者先加后用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② 三目运算符 ? : 优先级低于赋值 =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③ % 求余运算只对整数有意义，被除数不能为 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601968"/>
            <a:ext cx="109728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</a:rPr>
              <a:t>C++ 一级常考点分析  ·  数据来源：青少年软件编程等级考试真题集（C++ 一级）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分支结构 · if / else 嵌套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Microsoft YaHei"/>
              </a:rPr>
              <a:t>5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</a:rPr>
              <a:t>分支结构常考点：条件判断 + 多分支 + 嵌套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08760"/>
          <a:ext cx="6858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3657600"/>
              </a:tblGrid>
              <a:tr h="365760"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考点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频率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典型题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Microsoft YaHei"/>
                        </a:rPr>
                        <a:t>if 单分支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★★★★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判断奇偶 / 正负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Microsoft YaHei"/>
                        </a:rPr>
                        <a:t>if-else 双分支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★★★★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大小比较 / 分类输出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Microsoft YaHei"/>
                        </a:rPr>
                        <a:t>if-else if 多分支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★★★★★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成绩分级 / 等级划分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Microsoft YaHei"/>
                        </a:rPr>
                        <a:t>switch-case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★★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固定值匹配（菜单题）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Microsoft YaHei"/>
                        </a:rPr>
                        <a:t>嵌套分支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★★★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坐标象限 / 闰年判断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589520" y="1508760"/>
            <a:ext cx="4114800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50876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高频真题：闰年判断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1920240"/>
            <a:ext cx="4114800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2011680"/>
            <a:ext cx="393192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33333"/>
                </a:solidFill>
                <a:latin typeface="Microsoft YaHei"/>
              </a:rPr>
              <a:t>题目：判断 y 年是否为闰年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规则：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① 能被 4 整除且不能被 100 整除 → 闰年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② 或能被 400 整除 → 闰年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  ③ 否则平年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1F4E79"/>
                </a:solidFill>
                <a:latin typeface="Microsoft YaHei"/>
              </a:rPr>
              <a:t>表达式：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C0392B"/>
                </a:solidFill>
                <a:latin typeface="Microsoft YaHei"/>
              </a:rPr>
              <a:t>(y%4==0 &amp;&amp; y%100!=0) || y%400==0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solidFill>
            <a:srgbClr val="F8C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⚠ 分支结构三大易错点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728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① 多分支顺序：else if 链必须按条件从强到弱（或反向）排列，一旦命中即跳出。</a:t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② 等号判断：条件必须是 ==（关系等于），赋值 = 会导致逻辑错误且无语法报错。</a:t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③ 浮点比较：不要用 == 直接比较浮点，应判断 |a-b| &lt; 1e-6（C++一级较少涉及）。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601968"/>
            <a:ext cx="109728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</a:rPr>
              <a:t>C++ 一级常考点分析  ·  数据来源：青少年软件编程等级考试真题集（C++ 一级）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循环结构 · 三种循环与嵌套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Microsoft YaHei"/>
              </a:rPr>
              <a:t>6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Microsoft YaHei"/>
              </a:rPr>
              <a:t>循环结构是 C++ 一级最核心考点，几乎每场必考 2-3 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08760"/>
          <a:ext cx="6858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286000"/>
              </a:tblGrid>
              <a:tr h="603504"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循环类型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语法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适用场景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</a:tr>
              <a:tr h="603504"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Microsoft YaHei"/>
                        </a:rPr>
                        <a:t>for 循环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for(初值;条件;增量)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已知循环次数（最常用）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Microsoft YaHei"/>
                        </a:rPr>
                        <a:t>while 循环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while(条件) { ... }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条件驱动，次数未知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</a:tr>
              <a:tr h="603504"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Microsoft YaHei"/>
                        </a:rPr>
                        <a:t>do-while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do { ... } while(条件)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至少执行一次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Microsoft YaHei"/>
                        </a:rPr>
                        <a:t>break / continue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跳出 / 跳过本次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提前终止循环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589520" y="1508760"/>
            <a:ext cx="4114800" cy="4114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50876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真题示例：求 1+2+...+100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1920240"/>
            <a:ext cx="4114800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2011680"/>
            <a:ext cx="393192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333333"/>
                </a:solidFill>
                <a:latin typeface="Microsoft YaHei"/>
              </a:rPr>
              <a:t>int s = 0;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333333"/>
                </a:solidFill>
                <a:latin typeface="Microsoft YaHei"/>
              </a:rPr>
              <a:t>for(int i=1; i&lt;=100; i++) {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1F4E79"/>
                </a:solidFill>
                <a:latin typeface="Microsoft YaHei"/>
              </a:rPr>
              <a:t>    s += i;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333333"/>
                </a:solidFill>
                <a:latin typeface="Microsoft YaHei"/>
              </a:rPr>
              <a:t>}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333333"/>
                </a:solidFill>
                <a:latin typeface="Microsoft YaHei"/>
              </a:rPr>
              <a:t>cout &lt;&lt; s;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C0392B"/>
                </a:solidFill>
                <a:latin typeface="Microsoft YaHei"/>
              </a:rPr>
              <a:t>输出：5050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E67E22"/>
                </a:solidFill>
                <a:latin typeface="Microsoft YaHei"/>
              </a:rPr>
              <a:t>⚠ 注意：循环初值、终止条件、增量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E67E22"/>
                </a:solidFill>
                <a:latin typeface="Microsoft YaHei"/>
              </a:rPr>
              <a:t>  是 for 循环三要素，必须写全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754880"/>
            <a:ext cx="11247120" cy="1691640"/>
          </a:xfrm>
          <a:prstGeom prst="rect">
            <a:avLst/>
          </a:prstGeom>
          <a:solidFill>
            <a:srgbClr val="F8C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⚠ 循环结构 TOP 5 易错点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5780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① 死循环：忘记 i++ 导致条件永真    ② 差一错误：i&lt;=n 与 i&lt;n 的边界混淆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③ 累加器未初始化：s 未赋初值 0，结果随机    ④ break 与 continue 用错位置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⑤ 浮点循环：i += 0.1 累加误差导致循环次数异常（建议用整数计数）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601968"/>
            <a:ext cx="109728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</a:rPr>
              <a:t>C++ 一级常考点分析  ·  数据来源：青少年软件编程等级考试真题集（C++ 一级）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数位分离 · 必考之王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Microsoft YaHei"/>
              </a:rPr>
              <a:t>7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🔥 占真题 60% 以上 · 每场考试必出 2-3 题 · 一级最高频考点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5943600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万能模板：逐位拆解任意正整数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5943600" cy="23774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48840"/>
            <a:ext cx="55778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333333"/>
                </a:solidFill>
                <a:latin typeface="Consolas"/>
              </a:rPr>
              <a:t>int n;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333333"/>
                </a:solidFill>
                <a:latin typeface="Consolas"/>
              </a:rPr>
              <a:t>cin &gt;&gt; n;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1F4E79"/>
                </a:solidFill>
                <a:latin typeface="Consolas"/>
              </a:rPr>
              <a:t>while(n &gt; 0) {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333333"/>
                </a:solidFill>
                <a:latin typeface="Consolas"/>
              </a:rPr>
              <a:t>    int d = n % 10;   // 取个位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333333"/>
                </a:solidFill>
                <a:latin typeface="Consolas"/>
              </a:rPr>
              <a:t>    // 这里处理当前数位 d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C0392B"/>
                </a:solidFill>
                <a:latin typeface="Consolas"/>
              </a:rPr>
              <a:t>    n = n / 10;       // 去掉个位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333333"/>
                </a:solidFill>
                <a:latin typeface="Consolas"/>
              </a:rPr>
              <a:t>}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E67E22"/>
                </a:solidFill>
                <a:latin typeface="Consolas"/>
              </a:rPr>
              <a:t>// 注意：循环结束后 n 已变为 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1645920"/>
            <a:ext cx="5029200" cy="4114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6459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高频变式（8 大类）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103120"/>
            <a:ext cx="5029200" cy="256032"/>
          </a:xfrm>
          <a:prstGeom prst="rect">
            <a:avLst/>
          </a:prstGeom>
          <a:solidFill>
            <a:srgbClr val="DD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10312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</a:rPr>
              <a:t>① 求各位数字之和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10312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F4E79"/>
                </a:solidFill>
                <a:latin typeface="Microsoft YaHei"/>
              </a:rPr>
              <a:t>sum += 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2386584"/>
            <a:ext cx="502920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386584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</a:rPr>
              <a:t>② 求各位数字之积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38658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F4E79"/>
                </a:solidFill>
                <a:latin typeface="Microsoft YaHei"/>
              </a:rPr>
              <a:t>prod *= 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2670048"/>
            <a:ext cx="5029200" cy="256032"/>
          </a:xfrm>
          <a:prstGeom prst="rect">
            <a:avLst/>
          </a:prstGeom>
          <a:solidFill>
            <a:srgbClr val="DD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267004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</a:rPr>
              <a:t>③ 反转数字（如 123 → 321）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67004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F4E79"/>
                </a:solidFill>
                <a:latin typeface="Microsoft YaHei"/>
              </a:rPr>
              <a:t>rev = rev*10 + 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2953512"/>
            <a:ext cx="502920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295351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</a:rPr>
              <a:t>④ 判断是否为回文数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95351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F4E79"/>
                </a:solidFill>
                <a:latin typeface="Microsoft YaHei"/>
              </a:rPr>
              <a:t>反转后与原数比较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3236976"/>
            <a:ext cx="5029200" cy="256032"/>
          </a:xfrm>
          <a:prstGeom prst="rect">
            <a:avLst/>
          </a:prstGeom>
          <a:solidFill>
            <a:srgbClr val="DD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323697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</a:rPr>
              <a:t>⑤ 统计偶数 / 奇数个数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323697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F4E79"/>
                </a:solidFill>
                <a:latin typeface="Microsoft YaHei"/>
              </a:rPr>
              <a:t>if(d%2==0) cntE++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3520440"/>
            <a:ext cx="502920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352044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</a:rPr>
              <a:t>⑥ 求最大 / 最小数位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352044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F4E79"/>
                </a:solidFill>
                <a:latin typeface="Microsoft YaHei"/>
              </a:rPr>
              <a:t>max = max(max, 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3803904"/>
            <a:ext cx="5029200" cy="256032"/>
          </a:xfrm>
          <a:prstGeom prst="rect">
            <a:avLst/>
          </a:prstGeom>
          <a:solidFill>
            <a:srgbClr val="DD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3803904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</a:rPr>
              <a:t>⑦ 数字 0 出现的次数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380390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F4E79"/>
                </a:solidFill>
                <a:latin typeface="Microsoft YaHei"/>
              </a:rPr>
              <a:t>if(d==0) cnt0++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4087368"/>
            <a:ext cx="502920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0" y="408736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</a:rPr>
              <a:t>⑧ 水仙花数（三位）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408736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F4E79"/>
                </a:solidFill>
                <a:latin typeface="Microsoft YaHei"/>
              </a:rPr>
              <a:t>百^3+十^3+个^3 == 原数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663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icrosoft YaHei"/>
              </a:rPr>
              <a:t>真题示例：求整数 n 的各位数字之和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0749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333333"/>
                </a:solidFill>
                <a:latin typeface="Consolas"/>
              </a:rPr>
              <a:t>输入：n = 12345    输出：15（=1+2+3+4+5）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F4E79"/>
                </a:solidFill>
                <a:latin typeface="Consolas"/>
              </a:rPr>
              <a:t>int n, s = 0; cin &gt;&gt; n; while(n &gt; 0) { s += n % 10; n /= 10; } cout &lt;&lt; s;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C0392B"/>
                </a:solidFill>
                <a:latin typeface="Consolas"/>
              </a:rPr>
              <a:t>⚠ 易错：忘记初始化 s = 0；忘记最后 n/=10 导致死循环；处理负数要先取绝对值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601968"/>
            <a:ext cx="109728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</a:rPr>
              <a:t>C++ 一级常考点分析  ·  数据来源：青少年软件编程等级考试真题集（C++ 一级）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数组 · 一维数组与基本操作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Microsoft YaHei"/>
              </a:rPr>
              <a:t>8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02920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 大高频考点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91440" cy="5029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Microsoft YaHei"/>
              </a:rPr>
              <a:t>#1 定义与初始化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69164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int a[100] = {0};  // 全部初始化为 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5029200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91440" cy="5029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Microsoft YaHei"/>
              </a:rPr>
              <a:t>#2 下标访问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28600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a[i] 表示第 i 个元素，下标从 0 开始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80360"/>
            <a:ext cx="5029200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880360"/>
            <a:ext cx="91440" cy="5029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88036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Microsoft YaHei"/>
              </a:rPr>
              <a:t>#3 遍历求和 / 求最值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288036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for 循环遍历数组元素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474720"/>
            <a:ext cx="5029200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474720"/>
            <a:ext cx="91440" cy="5029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47472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Microsoft YaHei"/>
              </a:rPr>
              <a:t>#4 数组逆序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347472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交换 a[i] 与 a[n-1-i]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069080"/>
            <a:ext cx="5029200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069080"/>
            <a:ext cx="91440" cy="5029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06908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Microsoft YaHei"/>
              </a:rPr>
              <a:t>#5 数组查找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406908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线性查找：遍历比较目标值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1051560"/>
            <a:ext cx="5943600" cy="4572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0" y="105156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真题示例：求数组最大值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0" y="1508760"/>
            <a:ext cx="5943600" cy="2560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0" y="1600200"/>
            <a:ext cx="5669280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333333"/>
                </a:solidFill>
                <a:latin typeface="Consolas"/>
              </a:rPr>
              <a:t>int a[5] = {3, 8, 1, 5, 2};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333333"/>
                </a:solidFill>
                <a:latin typeface="Consolas"/>
              </a:rPr>
              <a:t>int max = a[0];  // 关键：初始化为 a[0]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1F4E79"/>
                </a:solidFill>
                <a:latin typeface="Consolas"/>
              </a:rPr>
              <a:t>for(int i=1; i&lt;5; i++) {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333333"/>
                </a:solidFill>
                <a:latin typeface="Consolas"/>
              </a:rPr>
              <a:t>    if(a[i] &gt; max) max = a[i];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333333"/>
                </a:solidFill>
                <a:latin typeface="Consolas"/>
              </a:rPr>
              <a:t>}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C0392B"/>
                </a:solidFill>
                <a:latin typeface="Consolas"/>
              </a:rPr>
              <a:t>cout &lt;&lt; max;  // 输出：8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7E22"/>
                </a:solidFill>
                <a:latin typeface="Consolas"/>
              </a:rPr>
              <a:t>⚠ 易错：用 0 作 max 初值（数组可能全为负）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7E22"/>
                </a:solidFill>
                <a:latin typeface="Consolas"/>
              </a:rPr>
              <a:t>  必须用 a[0] 作初值！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0" y="4251960"/>
            <a:ext cx="5943600" cy="2011680"/>
          </a:xfrm>
          <a:prstGeom prst="rect">
            <a:avLst/>
          </a:prstGeom>
          <a:solidFill>
            <a:srgbClr val="F8C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434340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Microsoft YaHei"/>
              </a:rPr>
              <a:t>⚠ 数组三大易错点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709160"/>
            <a:ext cx="56692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① 越界访问：a[n] 越界（合法下标 0~n-1）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② 未初始化：int a[100]; 直接读 a[i] 得随机值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Microsoft YaHei"/>
              </a:rPr>
              <a:t>③ 求最值初值：用 a[0] 而非 0 作 max/min 初值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617720"/>
            <a:ext cx="5029200" cy="1645920"/>
          </a:xfrm>
          <a:prstGeom prst="rect">
            <a:avLst/>
          </a:prstGeom>
          <a:solidFill>
            <a:srgbClr val="DD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7091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Microsoft YaHei"/>
              </a:rPr>
              <a:t>📌 数组常考题型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074920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1. 求和 / 平均值 / 最大最小值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2. 元素逆序 / 元素查找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3. 元素插入 / 删除（下标移动）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4. 数组排序（冒泡 / 选择）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601968"/>
            <a:ext cx="109728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</a:rPr>
              <a:t>C++ 一级常考点分析  ·  数据来源：青少年软件编程等级考试真题集（C++ 一级）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字符与 ASCII · 易混淆考点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Microsoft YaHei"/>
              </a:rPr>
              <a:t>9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icrosoft YaHei"/>
              </a:rPr>
              <a:t>ASCII 必背对照（精选高频字符）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0876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1066800"/>
                <a:gridCol w="1066800"/>
                <a:gridCol w="1066800"/>
                <a:gridCol w="1066800"/>
                <a:gridCol w="1066800"/>
              </a:tblGrid>
              <a:tr h="731520"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字符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ASCII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字符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ASCII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字符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ASCII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</a:tr>
              <a:tr h="731520"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Microsoft YaHei"/>
                        </a:rPr>
                        <a:t>'0'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48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'A'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65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'a'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97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Microsoft YaHei"/>
                        </a:rPr>
                        <a:t>'1'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49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'B'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66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'b'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98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</a:tr>
              <a:tr h="731520"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Microsoft YaHei"/>
                        </a:rPr>
                        <a:t>'9'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57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'Z'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90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'z'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122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Microsoft YaHei"/>
                        </a:rPr>
                        <a:t>' '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32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'\n'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'\0'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132320" y="1508760"/>
            <a:ext cx="4572000" cy="4572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5087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核心要点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011680"/>
            <a:ext cx="43891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333"/>
                </a:solidFill>
                <a:latin typeface="Consolas"/>
              </a:rPr>
              <a:t>① 字符常量用单引号 'A'，字符串用双引号 "A"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333"/>
                </a:solidFill>
                <a:latin typeface="Consolas"/>
              </a:rPr>
              <a:t>② 字符与整数可以互相转换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F4E79"/>
                </a:solidFill>
                <a:latin typeface="Consolas"/>
              </a:rPr>
              <a:t>   'A' + 1 = 'B'（ASCII 累加）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333"/>
                </a:solidFill>
                <a:latin typeface="Consolas"/>
              </a:rPr>
              <a:t>③ '0' 到 '9' 是连续编码，差值固定为 48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C0392B"/>
                </a:solidFill>
                <a:latin typeface="Consolas"/>
              </a:rPr>
              <a:t>   数字字符转数字：ch - '0'（如 '5'-'0'=5）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333"/>
                </a:solidFill>
                <a:latin typeface="Consolas"/>
              </a:rPr>
              <a:t>④ 大小写转换：A ↔ a 相差 32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F4E79"/>
                </a:solidFill>
                <a:latin typeface="Consolas"/>
              </a:rPr>
              <a:t>   大写转小写：ch + 32  或  ch - 'A' + 'a'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349240"/>
            <a:ext cx="11247120" cy="1097280"/>
          </a:xfrm>
          <a:prstGeom prst="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Microsoft YaHei"/>
              </a:rPr>
              <a:t>真题：已知 char ch = 'D';  cout &lt;&lt; (ch + 2);  输出？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333333"/>
                </a:solidFill>
                <a:latin typeface="Microsoft YaHei"/>
              </a:rPr>
              <a:t>A. 70    B. 'F'    C. E    D. D2    【答案】A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7E22"/>
                </a:solidFill>
                <a:latin typeface="Microsoft YaHei"/>
              </a:rPr>
              <a:t>解析：ch='D' (ASCII 68)，加上 2 后是整数 70，整数输出无引号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601968"/>
            <a:ext cx="109728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</a:rPr>
              <a:t>C++ 一级常考点分析  ·  数据来源：青少年软件编程等级考试真题集（C++ 一级）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函数 · 定义、调用与参数传递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Microsoft YaHei"/>
              </a:rPr>
              <a:t>10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Microsoft YaHei"/>
              </a:rPr>
              <a:t>函数是 C++ 一级中后期新增考点，占比约 15%，但难度大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6858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029200"/>
              </a:tblGrid>
              <a:tr h="457200"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考点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语法 / 概念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Microsoft YaHei"/>
                        </a:rPr>
                        <a:t>函数定义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返回值类型 函数名(参数列表) { 函数体 }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Microsoft YaHei"/>
                        </a:rPr>
                        <a:t>函数调用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函数名(实参列表); — 实参个数与形参必须一致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Microsoft YaHei"/>
                        </a:rPr>
                        <a:t>参数传递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值传递：形参是实参的副本，修改不影响实参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Microsoft YaHei"/>
                        </a:rPr>
                        <a:t>返回值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return 表达式;  类型必须与函数声明一致</a:t>
                      </a:r>
                    </a:p>
                  </a:txBody>
                  <a:tcPr marL="73152" marR="73152" marT="36576" marB="36576"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 lIns="0" rIns="0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Microsoft YaHei"/>
                        </a:rPr>
                        <a:t>无返回值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void func() { ... } — 不写 return 或只写 return;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589520" y="1463040"/>
            <a:ext cx="4114800" cy="4114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46304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真题：值传递 vs 引用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1874519"/>
            <a:ext cx="4114800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965960"/>
            <a:ext cx="393192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33333"/>
                </a:solidFill>
                <a:latin typeface="Consolas"/>
              </a:rPr>
              <a:t>void f(int a) { a = 10; }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1F4E79"/>
                </a:solidFill>
                <a:latin typeface="Consolas"/>
              </a:rPr>
              <a:t>int main() {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333333"/>
                </a:solidFill>
                <a:latin typeface="Consolas"/>
              </a:rPr>
              <a:t>    int x = 5;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333333"/>
                </a:solidFill>
                <a:latin typeface="Consolas"/>
              </a:rPr>
              <a:t>    f(x);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C0392B"/>
                </a:solidFill>
                <a:latin typeface="Consolas"/>
              </a:rPr>
              <a:t>    cout &lt;&lt; x;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333333"/>
                </a:solidFill>
                <a:latin typeface="Consolas"/>
              </a:rPr>
              <a:t>}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E67E22"/>
                </a:solidFill>
                <a:latin typeface="Consolas"/>
              </a:rPr>
              <a:t>输出：5（值传递，x 未被修改）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7E22"/>
                </a:solidFill>
                <a:latin typeface="Consolas"/>
              </a:rPr>
              <a:t>⚠ 一级不考引用 (&amp;)，重点掌握值传递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89120"/>
            <a:ext cx="11247120" cy="2011680"/>
          </a:xfrm>
          <a:prstGeom prst="rect">
            <a:avLst/>
          </a:prstGeom>
          <a:solidFill>
            <a:srgbClr val="F8C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⚠ 函数三大易错点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920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① 形参 vs 实参：形参是函数定义时的占位变量，实参是调用时传入的具体值，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 类型、个数、顺序必须一一对应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② return 类型匹配：int func() 不能 return 3.14；void func() 不能 return 5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③ 形参作用域：形参只在函数内部有效，函数结束即销毁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601968"/>
            <a:ext cx="109728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</a:rPr>
              <a:t>C++ 一级常考点分析  ·  数据来源：青少年软件编程等级考试真题集（C++ 一级）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易错题 TOP 5 · 真实考场失分点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Microsoft YaHei"/>
              </a:rPr>
              <a:t>11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Microsoft YaHei"/>
              </a:rPr>
              <a:t>汇总历年考场真实失分率最高的 5 道题（含易错原因）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173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考点类型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19" y="1417320"/>
            <a:ext cx="411479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题目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4173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答案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41732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易错原因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828800"/>
            <a:ext cx="7315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C0392B"/>
                </a:solidFill>
                <a:latin typeface="Microsoft YaHe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18288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Microsoft YaHei"/>
              </a:rPr>
              <a:t>运算符优先级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59" y="1828800"/>
            <a:ext cx="3931919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int x = 2 * 3 + 4 % 5;  x =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8288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0392B"/>
                </a:solidFill>
                <a:latin typeface="Microsoft YaHei"/>
              </a:rPr>
              <a:t>答案：10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182880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% 优先级与 * / 相同，从左到右结合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743200"/>
            <a:ext cx="7315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C0392B"/>
                </a:solidFill>
                <a:latin typeface="Microsoft YaHe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27432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Microsoft YaHei"/>
              </a:rPr>
              <a:t>for 循环边界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59" y="2743200"/>
            <a:ext cx="3931919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for(int i=0; i&lt;10; i++) 循环执行次数？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7432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0392B"/>
                </a:solidFill>
                <a:latin typeface="Microsoft YaHei"/>
              </a:rPr>
              <a:t>答案：10 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74320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初值 0、终值 9、增量 1，共 10 次，不是 9 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657600"/>
            <a:ext cx="11247120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657600"/>
            <a:ext cx="7315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C0392B"/>
                </a:solidFill>
                <a:latin typeface="Microsoft YaHe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36576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Microsoft YaHei"/>
              </a:rPr>
              <a:t>数组越界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59" y="3657600"/>
            <a:ext cx="3931919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int a[5]; a[5] = 100; 是否报错？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6576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0392B"/>
                </a:solidFill>
                <a:latin typeface="Microsoft YaHei"/>
              </a:rPr>
              <a:t>答案：编译不报错，运行结果不确定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65760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下标 0~4 合法，越界不报错但危险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572000"/>
            <a:ext cx="1124712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572000"/>
            <a:ext cx="7315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C0392B"/>
                </a:solidFill>
                <a:latin typeface="Microsoft YaHei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5720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Microsoft YaHei"/>
              </a:rPr>
              <a:t>字符 vs 字符串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59" y="4572000"/>
            <a:ext cx="3931919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char c = "A"; 是否正确？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45720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0392B"/>
                </a:solidFill>
                <a:latin typeface="Microsoft YaHei"/>
              </a:rPr>
              <a:t>答案：错误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457200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字符用单引号，字符串用双引号；应写 char c = 'A';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486400"/>
            <a:ext cx="7315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C0392B"/>
                </a:solidFill>
                <a:latin typeface="Microsoft YaHei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54864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Microsoft YaHei"/>
              </a:rPr>
              <a:t>整除 vs 求余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59" y="5486400"/>
            <a:ext cx="3931919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int a = 7 / 2; int b = 7 % 2; a=? b=?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54864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0392B"/>
                </a:solidFill>
                <a:latin typeface="Microsoft YaHei"/>
              </a:rPr>
              <a:t>答案：a=3, b=1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548640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整数相除只保留整数部分，% 求余数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601968"/>
            <a:ext cx="109728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</a:rPr>
              <a:t>C++ 一级常考点分析  ·  数据来源：青少年软件编程等级考试真题集（C++ 一级）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高频代码模板 · 一页纸速记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Microsoft YaHei"/>
              </a:rPr>
              <a:t>12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Microsoft YaHei"/>
              </a:rPr>
              <a:t>收藏这一页，考前看一眼 → 直接默写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48640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91440" cy="12801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icrosoft YaHei"/>
              </a:rPr>
              <a:t>① 数位分离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int s=0; while(n&gt;0) { s+=n%10; n/=10;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7E22"/>
                </a:solidFill>
                <a:latin typeface="Microsoft YaHei"/>
              </a:rPr>
              <a:t>💡 求和 / 积 / 反转 / 回文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548640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508760"/>
            <a:ext cx="91440" cy="12801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544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icrosoft YaHei"/>
              </a:rPr>
              <a:t>② 求最大公约数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while(b!=0) { t=a%b; a=b; b=t; 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774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7E22"/>
                </a:solidFill>
                <a:latin typeface="Microsoft YaHei"/>
              </a:rPr>
              <a:t>💡 辗转相除法（欧几里得）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80360"/>
            <a:ext cx="548640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880360"/>
            <a:ext cx="91440" cy="12801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9260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icrosoft YaHei"/>
              </a:rPr>
              <a:t>③ 求最小公倍数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291840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int lcm = a*b / gcd(a,b);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7490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7E22"/>
                </a:solidFill>
                <a:latin typeface="Microsoft YaHei"/>
              </a:rPr>
              <a:t>💡 先求 gcd 再套公式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880360"/>
            <a:ext cx="548640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880360"/>
            <a:ext cx="91440" cy="12801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9260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icrosoft YaHei"/>
              </a:rPr>
              <a:t>④ 数组最大值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291840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int max=a[0]; for(i=1;i&lt;n;i++) if(a[i]&gt;max) max=a[i];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7490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7E22"/>
                </a:solidFill>
                <a:latin typeface="Microsoft YaHei"/>
              </a:rPr>
              <a:t>💡 注意初值是 a[0] 不是 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51960"/>
            <a:ext cx="548640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251960"/>
            <a:ext cx="91440" cy="12801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2976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icrosoft YaHei"/>
              </a:rPr>
              <a:t>⑤ 数组逆序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663440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for(i=0;i&lt;n/2;i++) swap(a[i],a[n-1-i]);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1206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7E22"/>
                </a:solidFill>
                <a:latin typeface="Microsoft YaHei"/>
              </a:rPr>
              <a:t>💡 交换次数 = n/2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251960"/>
            <a:ext cx="548640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251960"/>
            <a:ext cx="91440" cy="12801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2976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icrosoft YaHei"/>
              </a:rPr>
              <a:t>⑥ 字符转数字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663440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int x = ch - '0';  // '5' →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1206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7E22"/>
                </a:solidFill>
                <a:latin typeface="Microsoft YaHei"/>
              </a:rPr>
              <a:t>💡 ch 是数字字符时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623560"/>
            <a:ext cx="548640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5623560"/>
            <a:ext cx="91440" cy="12801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6692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icrosoft YaHei"/>
              </a:rPr>
              <a:t>⑦ 大写转小写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035040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char lower = ch - 'A' + 'a';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922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7E22"/>
                </a:solidFill>
                <a:latin typeface="Microsoft YaHei"/>
              </a:rPr>
              <a:t>💡 相差 32，可直接 +32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5623560"/>
            <a:ext cx="548640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5623560"/>
            <a:ext cx="91440" cy="12801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56692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icrosoft YaHei"/>
              </a:rPr>
              <a:t>⑧ 阶乘求和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6035040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long long s=1; for(i=1;i&lt;=n;i++) s*=i;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64922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7E22"/>
                </a:solidFill>
                <a:latin typeface="Microsoft YaHei"/>
              </a:rPr>
              <a:t>💡 阶乘增长快，注意溢出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355080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Microsoft YaHei"/>
              </a:rPr>
              <a:t>📌 配套讲义《C++一级考点精讲》第 9-12 页有完整代码演示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601968"/>
            <a:ext cx="109728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</a:rPr>
              <a:t>C++ 一级常考点分析  ·  数据来源：青少年软件编程等级考试真题集（C++ 一级）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备考策略 · 三阶段冲刺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Microsoft YaHei"/>
              </a:rPr>
              <a:t>13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749039" cy="7315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基础阶段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考前 4 周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749039" cy="38404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11680"/>
            <a:ext cx="320040" cy="3200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65960"/>
            <a:ext cx="301751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通读教材，覆盖全部 8 大考点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80360"/>
            <a:ext cx="320040" cy="3200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34640"/>
            <a:ext cx="301751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理解每个语法点 + 配套讲义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49040"/>
            <a:ext cx="320040" cy="3200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490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703320"/>
            <a:ext cx="301751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每天 1 小时，做 5 道基础题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617720"/>
            <a:ext cx="320040" cy="3200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61772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572000"/>
            <a:ext cx="301751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目标：理解 70% 概念，能口述思路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399" y="1097280"/>
            <a:ext cx="3749039" cy="7315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399" y="118872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强化阶段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399" y="150876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考前 2 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399" y="1828800"/>
            <a:ext cx="3749039" cy="38404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26279" y="2011680"/>
            <a:ext cx="320040" cy="3200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79" y="201168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79" y="1965960"/>
            <a:ext cx="301751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专项突破：数位分离 + 循环（占 60%）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26279" y="2880360"/>
            <a:ext cx="320040" cy="3200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79" y="288036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79" y="2834640"/>
            <a:ext cx="301751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默写 8 大代码模板（见上页）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26279" y="3749040"/>
            <a:ext cx="320040" cy="3200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79" y="37490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3479" y="3703320"/>
            <a:ext cx="301751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每天 1 套真题（30 题，限时 90 分钟）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26279" y="4617720"/>
            <a:ext cx="320040" cy="3200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79" y="461772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79" y="4572000"/>
            <a:ext cx="301751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目标：真题正确率 80%+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598" y="1097280"/>
            <a:ext cx="3749039" cy="7315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598" y="118872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冲刺阶段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598" y="150876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考前 1 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598" y="1828800"/>
            <a:ext cx="3749039" cy="38404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412478" y="2011680"/>
            <a:ext cx="320040" cy="320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78" y="201168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78" y="1965960"/>
            <a:ext cx="301751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刷近 5 场真题，重点看错题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78" y="2880360"/>
            <a:ext cx="320040" cy="320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78" y="288036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78" y="2834640"/>
            <a:ext cx="301751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背诵 TOP 5 易错点（见上页）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12478" y="3749040"/>
            <a:ext cx="320040" cy="320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78" y="37490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78" y="3703320"/>
            <a:ext cx="301751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默写输入输出格式符（printf / scanf）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12478" y="4617720"/>
            <a:ext cx="320040" cy="320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78" y="461772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78" y="4572000"/>
            <a:ext cx="301751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目标：稳定 90+ 分通过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🎯 C++ 一级没有编程题，纯理论 —— 把模板默写熟，分数自然来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6601968"/>
            <a:ext cx="109728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</a:rPr>
              <a:t>C++ 一级常考点分析  ·  数据来源：青少年软件编程等级考试真题集（C++ 一级）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总结 · 一页纸速记卡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Microsoft YaHei"/>
              </a:rPr>
              <a:t>14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Microsoft YaHei"/>
              </a:rPr>
              <a:t>📌 三个核心结论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48640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91440" cy="1188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Microsoft YaHei"/>
              </a:rPr>
              <a:t>① 高频聚焦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数位分离 + 循环 + 分支合计占真题 70%+
复习性价比最高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548640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834640"/>
            <a:ext cx="91440" cy="1188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71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Microsoft YaHei"/>
              </a:rPr>
              <a:t>② 模板为先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3756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C++ 一级不考编程，但代码理解题需要默写
8 大模板（数位分离 / 求最大 / 数组逆序等）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548640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160520"/>
            <a:ext cx="91440" cy="1188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297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Microsoft YaHei"/>
              </a:rPr>
              <a:t>③ 基础为王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6344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输入输出格式、运算符优先级、ASCII 码
这三块是稳定拿分点，绝不能丢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051560"/>
            <a:ext cx="5303520" cy="4572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0515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📇 考场 30 秒速记卡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508760"/>
            <a:ext cx="5303520" cy="4114800"/>
          </a:xfrm>
          <a:prstGeom prst="rect">
            <a:avLst/>
          </a:prstGeom>
          <a:solidFill>
            <a:srgbClr val="DD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645920"/>
            <a:ext cx="502920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1F4E79"/>
                </a:solidFill>
                <a:latin typeface="Consolas"/>
              </a:rPr>
              <a:t>🔢 数据类型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Consolas"/>
              </a:rPr>
              <a:t>   int %d    float %f    double %lf    char %c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1F4E79"/>
                </a:solidFill>
                <a:latin typeface="Consolas"/>
              </a:rPr>
              <a:t>➕ 运算符优先级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Consolas"/>
              </a:rPr>
              <a:t>   () &gt; 单目 &gt; */% &gt; +- &gt; 关系 &gt; 逻辑 &gt; 赋值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1F4E79"/>
                </a:solidFill>
                <a:latin typeface="Consolas"/>
              </a:rPr>
              <a:t>🔁 for 三要素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Consolas"/>
              </a:rPr>
              <a:t>   初值 ; 条件 ; 增量（循环体中必须改变条件变量）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C0392B"/>
                </a:solidFill>
                <a:latin typeface="Consolas"/>
              </a:rPr>
              <a:t>📊 数位分离核心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Consolas"/>
              </a:rPr>
              <a:t>   d = n % 10;   n = n / 10;   while(n &gt; 0)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1F4E79"/>
                </a:solidFill>
                <a:latin typeface="Consolas"/>
              </a:rPr>
              <a:t>🔤 字符转换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Consolas"/>
              </a:rPr>
              <a:t>   数字字符→数字：ch - '0'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Consolas"/>
              </a:rPr>
              <a:t>   大写→小写：ch + 32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C0392B"/>
                </a:solidFill>
                <a:latin typeface="Consolas"/>
              </a:rPr>
              <a:t>📦 数组下标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Consolas"/>
              </a:rPr>
              <a:t>   0 ~ n-1，共 n 个元素；越界不报错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1F4E79"/>
                </a:solidFill>
                <a:latin typeface="Consolas"/>
              </a:rPr>
              <a:t>🎯 函数调用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333"/>
                </a:solidFill>
                <a:latin typeface="Consolas"/>
              </a:rPr>
              <a:t>   实参与形参个数、类型、顺序必须一致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💪 祝同学们顺利通过 C++ 一级考试！加油！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