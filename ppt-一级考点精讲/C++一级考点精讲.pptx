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xml" ContentType="application/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9" Type="http://schemas.openxmlformats.org/officeDocument/2006/relationships/viewProps" Target="viewProps.xml" /><Relationship Id="rId3" Type="http://schemas.openxmlformats.org/officeDocument/2006/relationships/slide" Target="slides/slide3.xml" /><Relationship Id="rId18" Type="http://schemas.openxmlformats.org/officeDocument/2006/relationships/tableStyles" Target="tableStyles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17" Type="http://schemas.openxmlformats.org/officeDocument/2006/relationships/presProps" Target="presProps.xml" /><Relationship Id="rId15" Type="http://schemas.openxmlformats.org/officeDocument/2006/relationships/slide" Target="slides/slide15.xml" /><Relationship Id="rId16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AF7F2', position: 'relative', overflow: 'hidden' }}&gt;&#10;  {/* 右侧 55% 主视觉 */}&#10;  &lt;Box style={{ position: 'absolute', top: 0, right: 0, width: 704, height: 720 }}&gt;&#10;    &lt;Image src=&quot;assets/cover_kids.png&quot; style={{ width: '100%', height: '100%', objectFit: 'cover' }} /&gt;&#10;  &lt;/Box&gt;&#10;  {/* 左侧文字区 */}&#10;  &lt;Box style={{ position: 'absolute', top: 0, left: 0, width: 576, height: 720, padding: '90px 40px 60px 70px', flexDirection: 'column', justifyContent: 'center', gap: 28, zIndex: 1 }}&gt;&#10;    &lt;Box style={{ background: '#F97316', borderRadius: 10, padding: '8px 20px', alignSelf: 'flex-start' }}&gt;&#10;      &lt;Text style={{ fontSize: 20, color: '#FFFFFF', fontWeight: 'bold', letterSpacing: 2 }}&gt;2026 年 3 月新版考纲&lt;/Text&gt;&#10;    &lt;/Box&gt;&#10;    &lt;Text style={{ fontSize: 68, fontWeight: 'bold', color: '#1A1A1A', lineHeight: 1.2 }}&gt;C++ 一级&lt;br /&gt;备考第一课&lt;/Text&gt;&#10;    &lt;Text style={{ fontSize: 30, fontWeight: 'bold', color: '#EC4899' }}&gt;高频考点 · 易错点精讲&lt;/Text&gt;&#10;    &lt;Text style={{ fontSize: 19, color: '#64748B', lineHeight: 1.6 }}&gt;考前先把「考什么、哪里容易错」搞清楚，&lt;br /&gt;再刷题才能事半功倍。&lt;/Text&gt;&#10;  &lt;/Box&gt;&#10;  {/* 底部渐变条 */}&#10;  &lt;Box style={{ position: 'absolute', bottom: 0, left: 0, width: 1280, height: 12, background: 'linear-gradient(90deg, #F97316 0%, #EC4899 100%)' }} /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19762" t="0" r="19762" b="0"/>
          <a:stretch>
            <a:fillRect/>
          </a:stretch>
        </p:blipFill>
        <p:spPr>
          <a:xfrm rot="0" flipH="0" flipV="0">
            <a:off x="5486400" y="0"/>
            <a:ext cx="67056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6743700"/>
            <a:ext cx="12192000" cy="114300"/>
          </a:xfrm>
          <a:prstGeom prst="rect">
            <a:avLst/>
          </a:prstGeom>
          <a:gradFill>
            <a:gsLst>
              <a:gs pos="0">
                <a:srgbClr val="F97316"/>
              </a:gs>
              <a:gs pos="100000">
                <a:srgbClr val="EC4899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66750" y="1533525"/>
            <a:ext cx="2505075" cy="3810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1609725"/>
            <a:ext cx="2124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2026 </a:t>
            </a:r>
            <a:r>
              <a:rPr lang="zh-CN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 3 </a:t>
            </a:r>
            <a:r>
              <a:rPr lang="zh-CN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月新版考纲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2181225"/>
            <a:ext cx="4438650" cy="18669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5100" b="1">
                <a:solidFill>
                  <a:srgbClr val="1A1A1A"/>
                </a:solidFill>
                <a:latin typeface="Microsoft YaHei"/>
                <a:ea typeface="Microsoft YaHei"/>
              </a:rPr>
              <a:t>C++ </a:t>
            </a:r>
            <a:r>
              <a:rPr lang="zh-CN" sz="5100" b="1">
                <a:solidFill>
                  <a:srgbClr val="1A1A1A"/>
                </a:solidFill>
                <a:latin typeface="Microsoft YaHei"/>
                <a:ea typeface="Microsoft YaHei"/>
              </a:rPr>
              <a:t>一级</a:t>
            </a:r>
            <a:endParaRPr/>
          </a:p>
          <a:p>
            <a:pPr>
              <a:lnSpc>
                <a:spcPct val="120000"/>
              </a:lnSpc>
            </a:pPr>
            <a:r>
              <a:rPr lang="zh-CN" sz="5100" b="1">
                <a:solidFill>
                  <a:srgbClr val="1A1A1A"/>
                </a:solidFill>
                <a:latin typeface="Microsoft YaHei"/>
                <a:ea typeface="Microsoft YaHei"/>
              </a:rPr>
              <a:t>备考第一课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66750" y="4314825"/>
            <a:ext cx="443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C4899"/>
                </a:solidFill>
                <a:latin typeface="Microsoft YaHei"/>
                <a:ea typeface="Microsoft YaHei"/>
              </a:rPr>
              <a:t>高频考点</a:t>
            </a:r>
            <a:r>
              <a:rPr lang="en-US" sz="2250" b="1">
                <a:solidFill>
                  <a:srgbClr val="EC4899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EC4899"/>
                </a:solidFill>
                <a:latin typeface="Microsoft YaHei"/>
                <a:ea typeface="Microsoft YaHei"/>
              </a:rPr>
              <a:t>易错点精讲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66750" y="4924425"/>
            <a:ext cx="443865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考前先把「考什么、哪里容易错」搞清楚，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再刷题才能事半功倍。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33" name="" descr="&lt;Slide style={{ width: 1280, height: 720, background: '#FAF7F2' }}&gt;&#10;  {/* A 区标题 */}&#10;  &lt;Box style={{ height: 120, padding: '28px 70px 0 70px' }}&gt;&#10;    &lt;Text style={{ fontSize: 34, fontWeight: 'bold', color: '#1A1A1A' }}&gt;今天讲什么&lt;/Text&gt;&#10;    &lt;Box style={{ width: 64, height: 6, background: '#F97316', borderRadius: 3, marginTop: 10 }} /&gt;&#10;  &lt;/Box&gt;&#10;  {/* B 区目录 */}&#10;  &lt;Box style={{ height: 540, padding: '30px 70px 0 70px', flexDirection: 'row', gap: 40 }}&gt;&#10;    &lt;Box style={{ width: 300, justifyContent: 'center', gap: 16 }}&gt;&#10;      &lt;Text style={{ fontSize: 46, fontWeight: 'bold', color: '#F97316' }}&gt;3 个部分&lt;/Text&gt;&#10;      &lt;Text style={{ fontSize: 19, color: '#64748B', lineHeight: 1.7 }}&gt;一节课带你摸清&lt;br /&gt;一级考试的底细，&lt;br /&gt;少走弯路不踩坑。&lt;/Text&gt;&#10;    &lt;/Box&gt;&#10;    &lt;Box style={{ flex: 1, flexDirection: 'column', justifyContent: 'center', gap: 26 }}&gt;&#10;      &lt;Box style={{ flexDirection: 'row', alignItems: 'center', gap: 24, background: '#FFFFFF', borderRadius: 16, padding: '26px 30px', border: '1px solid #F1E9DF' }}&gt;&#10;        &lt;Text style={{ fontSize: 44, fontWeight: 'bold', color: '#F97316' }}&gt;01&lt;/Text&gt;&#10;        &lt;Box style={{ width: 4, height: 64, background: '#F97316', borderRadius: 2 }} /&gt;&#10;        &lt;Box style={{ flexDirection: 'column', gap: 6 }}&gt;&#10;          &lt;Text style={{ fontSize: 25, fontWeight: 'bold', color: '#1A1A1A' }}&gt;考试怎么考&lt;/Text&gt;&#10;          &lt;Text style={{ fontSize: 17, color: '#64748B' }}&gt;题型、分值、答题时间，一张图看明白&lt;/Text&gt;&#10;        &lt;/Box&gt;&#10;      &lt;/Box&gt;&#10;      &lt;Box style={{ flexDirection: 'row', alignItems: 'center', gap: 24, background: '#FFFFFF', borderRadius: 16, padding: '26px 30px', border: '1px solid #F1E9DF' }}&gt;&#10;        &lt;Text style={{ fontSize: 44, fontWeight: 'bold', color: '#F97316' }}&gt;02&lt;/Text&gt;&#10;        &lt;Box style={{ width: 4, height: 64, background: '#EC4899', borderRadius: 2 }} /&gt;&#10;        &lt;Box style={{ flexDirection: 'column', gap: 6 }}&gt;&#10;          &lt;Text style={{ fontSize: 25, fontWeight: 'bold', color: '#1A1A1A' }}&gt;五大模块精讲&lt;/Text&gt;&#10;          &lt;Text style={{ fontSize: 17, color: '#64748B' }}&gt;程序基础 / 变量标识符 / 输入输出 / 算术运算 / 三大结构&lt;/Text&gt;&#10;        &lt;/Box&gt;&#10;      &lt;/Box&gt;&#10;      &lt;Box style={{ flexDirection: 'row', alignItems: 'center', gap: 24, background: '#FFFFFF', borderRadius: 16, padding: '26px 30px', border: '1px solid #F1E9DF' }}&gt;&#10;        &lt;Text style={{ fontSize: 44, fontWeight: 'bold', color: '#F97316' }}&gt;03&lt;/Text&gt;&#10;        &lt;Box style={{ width: 4, height: 64, background: '#1E293B', borderRadius: 2 }} /&gt;&#10;        &lt;Box style={{ flexDirection: 'column', gap: 6 }}&gt;&#10;          &lt;Text style={{ fontSize: 25, fontWeight: 'bold', color: '#1A1A1A' }}&gt;易错点与备考&lt;/Text&gt;&#10;          &lt;Text style={{ fontSize: 17, color: '#64748B' }}&gt;最容易丢分的 5 个坑 + 考前提醒清单&lt;/Text&gt;&#10;        &lt;/Box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2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今天讲什么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66750" y="2962275"/>
            <a:ext cx="28575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97316"/>
                </a:solidFill>
                <a:latin typeface="Microsoft YaHei"/>
                <a:ea typeface="Microsoft YaHei"/>
              </a:rPr>
              <a:t>3 </a:t>
            </a:r>
            <a:r>
              <a:rPr lang="zh-CN" sz="3450" b="1">
                <a:solidFill>
                  <a:srgbClr val="F97316"/>
                </a:solidFill>
                <a:latin typeface="Microsoft YaHei"/>
                <a:ea typeface="Microsoft YaHei"/>
              </a:rPr>
              <a:t>个部分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66750" y="3648075"/>
            <a:ext cx="2857500" cy="1114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一节课带你摸清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一级考试的底细，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少走弯路不踩坑。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905250" y="1952625"/>
            <a:ext cx="76200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191000" y="225742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886325" y="2200275"/>
            <a:ext cx="38100" cy="609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153025" y="2238375"/>
            <a:ext cx="28098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Microsoft YaHei"/>
                <a:ea typeface="Microsoft YaHei"/>
              </a:rPr>
              <a:t>考试怎么考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153025" y="2581275"/>
            <a:ext cx="2809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题型、分值、答题时间，一张图看明白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905250" y="3305175"/>
            <a:ext cx="76200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191000" y="360997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886325" y="3552825"/>
            <a:ext cx="38100" cy="6096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153025" y="3590925"/>
            <a:ext cx="40100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Microsoft YaHei"/>
                <a:ea typeface="Microsoft YaHei"/>
              </a:rPr>
              <a:t>五大模块精讲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153025" y="3933825"/>
            <a:ext cx="401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程序基础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变量标识符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输入输出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算术运算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三大结构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3905250" y="4657725"/>
            <a:ext cx="7620000" cy="110490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191000" y="4962525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4886325" y="4905375"/>
            <a:ext cx="38100" cy="609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153025" y="4943475"/>
            <a:ext cx="26765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1A1A"/>
                </a:solidFill>
                <a:latin typeface="Microsoft YaHei"/>
                <a:ea typeface="Microsoft YaHei"/>
              </a:rPr>
              <a:t>易错点与备考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153025" y="5286375"/>
            <a:ext cx="2676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最容易丢分的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5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个坑</a:t>
            </a: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64748B"/>
                </a:solidFill>
                <a:latin typeface="Microsoft YaHei"/>
                <a:ea typeface="Microsoft YaHei"/>
              </a:rPr>
              <a:t>考前提醒清单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58" name="" descr="&lt;Slide style={{ width: 1280, height: 720, background: 'linear-gradient(135deg, #F97316 0%, #EC4899 100%)', position: 'relative', overflow: 'hidden' }}&gt;&#10;  {/* 装饰圆 */}&#10;  &lt;Box style={{ position: 'absolute', top: -80, right: -60, width: 320, height: 320, background: 'rgba(255,255,255,0.12)', borderRadius: 160 }} /&gt;&#10;  &lt;Box style={{ position: 'absolute', bottom: -100, left: 120, width: 260, height: 260, background: 'rgba(255,255,255,0.10)', borderRadius: 130 }} /&gt;&#10;  &lt;Box style={{ position: 'absolute', top: 140, left: 640, width: 90, height: 90, background: 'rgba(255,255,255,0.15)', borderRadius: 45 }} /&gt;&#10;  {/* 主内容 */}&#10;  &lt;Box style={{ width: 1280, height: 720, padding: '0 110px', flexDirection: 'column', justifyContent: 'center', gap: 20, zIndex: 1 }}&gt;&#10;    &lt;Text style={{ fontSize: 150, fontWeight: 'bold', color: 'rgba(255,255,255,0.35)', lineHeight: 1 }}&gt;01&lt;/Text&gt;&#10;    &lt;Text style={{ fontSize: 62, fontWeight: 'bold', color: '#FFFFFF' }}&gt;考试怎么考&lt;/Text&gt;&#10;    &lt;Text style={{ fontSize: 24, color: 'rgba(255,255,255,0.9)' }}&gt;题型分值先摸清 —— 知己知彼，复习才有方向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97316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9715500" y="-762000"/>
            <a:ext cx="3048000" cy="3048000"/>
          </a:xfrm>
          <a:custGeom>
            <a:pathLst>
              <a:path w="320" h="320">
                <a:moveTo>
                  <a:pt x="260" y="285"/>
                </a:moveTo>
                <a:cubicBezTo>
                  <a:pt x="200" y="333"/>
                  <a:pt x="114" y="331"/>
                  <a:pt x="56" y="281"/>
                </a:cubicBezTo>
                <a:cubicBezTo>
                  <a:pt x="-3" y="231"/>
                  <a:pt x="-17" y="147"/>
                  <a:pt x="21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1143000" y="5334000"/>
            <a:ext cx="2476500" cy="2476500"/>
          </a:xfrm>
          <a:custGeom>
            <a:pathLst>
              <a:path w="260" h="260">
                <a:moveTo>
                  <a:pt x="133" y="0"/>
                </a:moveTo>
                <a:cubicBezTo>
                  <a:pt x="173" y="1"/>
                  <a:pt x="209" y="20"/>
                  <a:pt x="233" y="51"/>
                </a:cubicBezTo>
                <a:cubicBezTo>
                  <a:pt x="257" y="82"/>
                  <a:pt x="266" y="122"/>
                  <a:pt x="257" y="160"/>
                </a:cubicBezTo>
                <a:lnTo>
                  <a:pt x="3" y="160"/>
                </a:lnTo>
                <a:cubicBezTo>
                  <a:pt x="-6" y="121"/>
                  <a:pt x="3" y="81"/>
                  <a:pt x="28" y="49"/>
                </a:cubicBezTo>
                <a:cubicBezTo>
                  <a:pt x="53" y="18"/>
                  <a:pt x="90" y="0"/>
                  <a:pt x="13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096000" y="1333500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47750" y="1885950"/>
            <a:ext cx="10096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47750" y="3790950"/>
            <a:ext cx="10096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考试怎么考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47750" y="4695825"/>
            <a:ext cx="10096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题型分值先摸清</a:t>
            </a:r>
            <a:r>
              <a:rPr lang="en-US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—— </a:t>
            </a:r>
            <a:r>
              <a:rPr lang="zh-CN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知己知彼，复习才有方向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66" name="" descr="&lt;Slide style={{ width: 1280, height: 720, background: '#FAF7F2' }}&gt;&#10;  {/* A 区标题 */}&#10;  &lt;Box style={{ height: 120, padding: '28px 70px 0 70px' }}&gt;&#10;    &lt;Text style={{ fontSize: 34, fontWeight: 'bold', color: '#1A1A1A' }}&gt;满分 100，这样拆&lt;/Text&gt;&#10;    &lt;Box style={{ width: 64, height: 6, background: '#F97316', borderRadius: 3, marginTop: 10 }} /&gt;&#10;  &lt;/Box&gt;&#10;  {/* B 区 */}&#10;  &lt;Box style={{ height: 540, padding: '24px 70px 0 70px', flexDirection: 'row', gap: 50 }}&gt;&#10;    {/* 左：巨型数字锚点 */}&#10;    &lt;Box style={{ width: 330, justifyContent: 'center', gap: 10 }}&gt;&#10;      &lt;Text style={{ fontSize: 120, fontWeight: 'bold', color: '#F97316', lineHeight: 1 }}&gt;100&lt;/Text&gt;&#10;      &lt;Text style={{ fontSize: 24, fontWeight: 'bold', color: '#1A1A1A' }}&gt;满分 · 60 分及格&lt;/Text&gt;&#10;      &lt;Text style={{ fontSize: 18, color: '#64748B', lineHeight: 1.6 }}&gt;三种题型组合考核，&lt;br /&gt;不再是只拼编程题。&lt;/Text&gt;&#10;    &lt;/Box&gt;&#10;    {/* 右：三条分值条 */}&#10;    &lt;Box style={{ flex: 1, flexDirection: 'column', justifyContent: 'center', gap: 26 }}&gt;&#10;      &lt;Box style={{ flexDirection: 'column', gap: 8 }}&gt;&#10;        &lt;Box style={{ flexDirection: 'row', justifyContent: 'space-between', alignItems: 'flex-end' }}&gt;&#10;          &lt;Text style={{ fontSize: 21, fontWeight: 'bold', color: '#1A1A1A' }}&gt;单选题 · 10 题 × 4 分&lt;/Text&gt;&#10;          &lt;Text style={{ fontSize: 36, fontWeight: 'bold', color: '#F97316' }}&gt;40 分&lt;/Text&gt;&#10;        &lt;/Box&gt;&#10;        &lt;Box style={{ width: 560, height: 26, background: '#F97316', borderRadius: 13 }} /&gt;&#10;        &lt;Text style={{ fontSize: 16, color: '#64748B' }}&gt;考基础概念、语法规则、程序运行结果 —— 靠记忆和细心&lt;/Text&gt;&#10;      &lt;/Box&gt;&#10;      &lt;Box style={{ flexDirection: 'column', gap: 8 }}&gt;&#10;        &lt;Box style={{ flexDirection: 'row', justifyContent: 'space-between', alignItems: 'flex-end' }}&gt;&#10;          &lt;Text style={{ fontSize: 21, fontWeight: 'bold', color: '#1A1A1A' }}&gt;判断题 · 10 题 × 2 分&lt;/Text&gt;&#10;          &lt;Text style={{ fontSize: 36, fontWeight: 'bold', color: '#EC4899' }}&gt;20 分&lt;/Text&gt;&#10;        &lt;/Box&gt;&#10;        &lt;Box style={{ width: 280, height: 26, background: '#EC4899', borderRadius: 13 }} /&gt;&#10;        &lt;Text style={{ fontSize: 16, color: '#64748B' }}&gt;考易错语法、概念误区 —— 一不小心就掉坑&lt;/Text&gt;&#10;      &lt;/Box&gt;&#10;      &lt;Box style={{ flexDirection: 'column', gap: 8 }}&gt;&#10;        &lt;Box style={{ flexDirection: 'row', justifyContent: 'space-between', alignItems: 'flex-end' }}&gt;&#10;          &lt;Text style={{ fontSize: 21, fontWeight: 'bold', color: '#1A1A1A' }}&gt;编程题 · 2 题 × 20 分&lt;/Text&gt;&#10;          &lt;Text style={{ fontSize: 36, fontWeight: 'bold', color: '#1E293B' }}&gt;40 分&lt;/Text&gt;&#10;        &lt;/Box&gt;&#10;        &lt;Box style={{ width: 560, height: 26, background: '#1E293B', borderRadius: 13 }} /&gt;&#10;        &lt;Text style={{ fontSize: 16, color: '#64748B' }}&gt;考输入输出、运算、分支、循环 —— 必须上机写代码&lt;/Text&gt;&#10;      &lt;/Box&gt;&#10;      &lt;Box style={{ background: 'rgba(236,72,153,0.10)', borderRadius: 12, padding: '14px 22px', marginTop: 4 }}&gt;&#10;        &lt;Text style={{ fontSize: 19, fontWeight: 'bold', color: '#1A1A1A' }}&gt;结论：编程题占 40 分，接近半壁江山 —— &lt;span style={{ color: '#EC4899' }}&gt;决定你过不过的是编程题&lt;/span&gt;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4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满分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100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，这样拆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66750" y="2581275"/>
            <a:ext cx="31432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97316"/>
                </a:solidFill>
                <a:latin typeface="Microsoft YaHei"/>
                <a:ea typeface="Microsoft YaHei"/>
              </a:rPr>
              <a:t>100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66750" y="4048125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满分</a:t>
            </a:r>
            <a:r>
              <a:rPr lang="en-US" sz="1800" b="1">
                <a:solidFill>
                  <a:srgbClr val="1A1A1A"/>
                </a:solidFill>
                <a:latin typeface="Microsoft YaHei"/>
                <a:ea typeface="Microsoft YaHei"/>
              </a:rPr>
              <a:t> · 60 </a:t>
            </a:r>
            <a:r>
              <a:rPr lang="zh-CN" sz="1800" b="1">
                <a:solidFill>
                  <a:srgbClr val="1A1A1A"/>
                </a:solidFill>
                <a:latin typeface="Microsoft YaHei"/>
                <a:ea typeface="Microsoft YaHei"/>
              </a:rPr>
              <a:t>分及格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66750" y="4419600"/>
            <a:ext cx="31432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三种题型组合考核，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不再是只拼编程题。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286250" y="1857375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单选题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· 10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× 4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696575" y="1685925"/>
            <a:ext cx="828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97316"/>
                </a:solidFill>
                <a:latin typeface="Microsoft YaHei"/>
                <a:ea typeface="Microsoft YaHei"/>
              </a:rPr>
              <a:t>40 </a:t>
            </a:r>
            <a:r>
              <a:rPr lang="zh-CN" sz="2700" b="1">
                <a:solidFill>
                  <a:srgbClr val="F97316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4286250" y="2181225"/>
            <a:ext cx="5334000" cy="2476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286250" y="2505075"/>
            <a:ext cx="723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考基础概念、语法规则、程序运行结果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靠记忆和细心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286250" y="3114675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判断题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· 10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× 2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696575" y="2943225"/>
            <a:ext cx="828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EC4899"/>
                </a:solidFill>
                <a:latin typeface="Microsoft YaHei"/>
                <a:ea typeface="Microsoft YaHei"/>
              </a:rPr>
              <a:t>20 </a:t>
            </a:r>
            <a:r>
              <a:rPr lang="zh-CN" sz="2700" b="1">
                <a:solidFill>
                  <a:srgbClr val="EC4899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4286250" y="3438525"/>
            <a:ext cx="2667000" cy="2476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286250" y="3762375"/>
            <a:ext cx="723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考易错语法、概念误区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一不小心就掉坑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286250" y="4371975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编程题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· 2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题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× 20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0696575" y="4200525"/>
            <a:ext cx="8286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293B"/>
                </a:solidFill>
                <a:latin typeface="Microsoft YaHei"/>
                <a:ea typeface="Microsoft YaHei"/>
              </a:rPr>
              <a:t>40 </a:t>
            </a:r>
            <a:r>
              <a:rPr lang="zh-CN" sz="2700" b="1">
                <a:solidFill>
                  <a:srgbClr val="1E293B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286250" y="4695825"/>
            <a:ext cx="5334000" cy="2476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286250" y="5019675"/>
            <a:ext cx="723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考输入输出、运算、分支、循环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必须上机写代码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4286250" y="5495925"/>
            <a:ext cx="7239000" cy="485775"/>
          </a:xfrm>
          <a:prstGeom prst="roundRect">
            <a:avLst>
              <a:gd name="adj" fmla="val 23529"/>
            </a:avLst>
          </a:prstGeom>
          <a:solidFill>
            <a:srgbClr val="EC4899">
              <a:alpha val="10000"/>
            </a:srgbClr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495800" y="5629275"/>
            <a:ext cx="681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结论：编程题占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40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分，接近半壁江山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425" b="1">
                <a:solidFill>
                  <a:srgbClr val="EC4899"/>
                </a:solidFill>
                <a:latin typeface="Microsoft YaHei"/>
                <a:ea typeface="Microsoft YaHei"/>
              </a:rPr>
              <a:t>决定你过不过的是编程题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91" name="" descr="&lt;Slide style={{ width: 1280, height: 720, background: 'linear-gradient(135deg, #EC4899 0%, #F97316 100%)', position: 'relative', overflow: 'hidden' }}&gt;&#10;  {/* 装饰圆 */}&#10;  &lt;Box style={{ position: 'absolute', top: -70, left: -80, width: 300, height: 300, background: 'rgba(255,255,255,0.12)', borderRadius: 150 }} /&gt;&#10;  &lt;Box style={{ position: 'absolute', bottom: -90, right: 100, width: 240, height: 240, background: 'rgba(255,255,255,0.10)', borderRadius: 120 }} /&gt;&#10;  {/* 主内容 */}&#10;  &lt;Box style={{ width: 1280, height: 720, padding: '0 110px', flexDirection: 'column', justifyContent: 'center', gap: 18, zIndex: 1 }}&gt;&#10;    &lt;Text style={{ fontSize: 150, fontWeight: 'bold', color: 'rgba(255,255,255,0.35)', lineHeight: 1 }}&gt;02&lt;/Text&gt;&#10;    &lt;Text style={{ fontSize: 62, fontWeight: 'bold', color: '#FFFFFF' }}&gt;五大模块精讲&lt;/Text&gt;&#10;    &lt;Text style={{ fontSize: 22, color: 'rgba(255,255,255,0.92)', letterSpacing: 1 }}&gt;程序基础 · 变量与标识符 · 输入输出 · 算术运算 · 程序三大结构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C4899"/>
              </a:gs>
              <a:gs pos="100000">
                <a:srgbClr val="F9731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-762000" y="-666750"/>
            <a:ext cx="2857500" cy="2857500"/>
          </a:xfrm>
          <a:custGeom>
            <a:pathLst>
              <a:path w="300" h="300">
                <a:moveTo>
                  <a:pt x="278" y="72"/>
                </a:moveTo>
                <a:cubicBezTo>
                  <a:pt x="313" y="130"/>
                  <a:pt x="305" y="204"/>
                  <a:pt x="259" y="253"/>
                </a:cubicBezTo>
                <a:cubicBezTo>
                  <a:pt x="213" y="302"/>
                  <a:pt x="140" y="314"/>
                  <a:pt x="80" y="283"/>
                </a:cubicBezTo>
                <a:lnTo>
                  <a:pt x="80" y="70"/>
                </a:lnTo>
                <a:lnTo>
                  <a:pt x="277" y="70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8953500" y="5429250"/>
            <a:ext cx="2286000" cy="2286000"/>
          </a:xfrm>
          <a:custGeom>
            <a:pathLst>
              <a:path w="240" h="240">
                <a:moveTo>
                  <a:pt x="123" y="0"/>
                </a:moveTo>
                <a:cubicBezTo>
                  <a:pt x="160" y="1"/>
                  <a:pt x="194" y="19"/>
                  <a:pt x="216" y="48"/>
                </a:cubicBezTo>
                <a:cubicBezTo>
                  <a:pt x="238" y="77"/>
                  <a:pt x="245" y="115"/>
                  <a:pt x="236" y="150"/>
                </a:cubicBezTo>
                <a:lnTo>
                  <a:pt x="4" y="150"/>
                </a:lnTo>
                <a:cubicBezTo>
                  <a:pt x="-5" y="114"/>
                  <a:pt x="2" y="76"/>
                  <a:pt x="25" y="47"/>
                </a:cubicBezTo>
                <a:cubicBezTo>
                  <a:pt x="48" y="17"/>
                  <a:pt x="83" y="0"/>
                  <a:pt x="12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47750" y="1914525"/>
            <a:ext cx="10096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47750" y="3800475"/>
            <a:ext cx="10096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五大模块精讲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47750" y="4686300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程序基础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变量与标识符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输入输出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算术运算</a:t>
            </a:r>
            <a:r>
              <a:rPr lang="en-US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650" spc="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程序三大结构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8" name="" descr="&lt;Slide style={{ width: 1280, height: 720, background: '#FAF7F2' }}&gt;&#10;  {/* A 区标题 */}&#10;  &lt;Box style={{ height: 120, padding: '28px 70px 0 70px' }}&gt;&#10;    &lt;Text style={{ fontSize: 34, fontWeight: 'bold', color: '#1A1A1A' }}&gt;模块 1 · C/C++ 程序基础&lt;/Text&gt;&#10;    &lt;Box style={{ width: 64, height: 6, background: '#F97316', borderRadius: 3, marginTop: 10 }} /&gt;&#10;  &lt;/Box&gt;&#10;  {/* B 区：左窄栏 + 右内容 */}&#10;  &lt;Box style={{ height: 540, padding: '26px 70px 0 70px', flexDirection: 'row', gap: 34 }}&gt;&#10;    {/* 左窄栏 */}&#10;    &lt;Box style={{ width: 300, background: 'linear-gradient(160deg, #F97316 0%, #EC4899 100%)', borderRadius: 18, padding: '34px 30px', justifyContent: 'space-between' }}&gt;&#10;      &lt;Box style={{ flexDirection: 'column', gap: 12 }}&gt;&#10;        &lt;Text style={{ fontSize: 40, fontWeight: 'bold', color: '#FFFFFF' }}&gt;模块 1&lt;/Text&gt;&#10;        &lt;Text style={{ fontSize: 22, fontWeight: 'bold', color: 'rgba(255,255,255,0.95)', lineHeight: 1.4 }}&gt;程序的骨架&lt;br /&gt;怎么搭&lt;/Text&gt;&#10;      &lt;/Box&gt;&#10;      &lt;Text style={{ fontSize: 17, color: 'rgba(255,255,255,0.85)', lineHeight: 1.7 }}&gt;开发常识是单选题的常客，main 函数和注释更是判断题的「钉子户」。&lt;/Text&gt;&#10;    &lt;/Box&gt;&#10;    {/* 右内容 */}&#10;    &lt;Box style={{ flex: 1, flexDirection: 'column', gap: 18 }}&gt;&#10;      {/* 流程图 SVG */}&#10;      &lt;Box style={{ background: '#FFFFFF', borderRadius: 16, border: '1px solid #F1E9DF', padding: '18px 22px' }}&gt;&#10;        &lt;Text style={{ fontSize: 19, fontWeight: 'bold', color: '#1A1A1A', marginBottom: 8 }}&gt;程序开发完整流程（单选高频）&lt;/Text&gt;&#10;        &lt;svg width={640} height={88} viewBox='0 0 660 100'&gt;&#10;          &lt;rect x='10' y='22' width='130' height='56' rx='12' fill='#F97316' /&gt;&#10;          &lt;text x='75' y='56' fontSize='19' fontWeight='bold' fill='#FFFFFF' textAnchor='middle'&gt;写源代码&lt;/text&gt;&#10;          &lt;path d='M 150 50 L 178 50' stroke='#64748B' strokeWidth='3' /&gt;&#10;          &lt;path d='M 172 42 L 184 50 L 172 58 Z' fill='#64748B' /&gt;&#10;          &lt;rect x='192' y='22' width='130' height='56' rx='12' fill='#FB923C' /&gt;&#10;          &lt;text x='257' y='56' fontSize='19' fontWeight='bold' fill='#FFFFFF' textAnchor='middle'&gt;编译&lt;/text&gt;&#10;          &lt;path d='M 332 50 L 360 50' stroke='#64748B' strokeWidth='3' /&gt;&#10;          &lt;path d='M 354 42 L 366 50 L 354 58 Z' fill='#64748B' /&gt;&#10;          &lt;rect x='374' y='22' width='130' height='56' rx='12' fill='#EC4899' /&gt;&#10;          &lt;text x='439' y='56' fontSize='19' fontWeight='bold' fill='#FFFFFF' textAnchor='middle'&gt;链接&lt;/text&gt;&#10;          &lt;path d='M 514 50 L 542 50' stroke='#64748B' strokeWidth='3' /&gt;&#10;          &lt;path d='M 536 42 L 548 50 L 536 58 Z' fill='#64748B' /&gt;&#10;          &lt;rect x='556' y='22' width='96' height='56' rx='12' fill='#1E293B' /&gt;&#10;          &lt;text x='604' y='56' fontSize='19' fontWeight='bold' fill='#FFFFFF' textAnchor='middle'&gt;运行&lt;/text&gt;&#10;        &lt;/svg&gt;&#10;      &lt;/Box&gt;&#10;      {/* 2×2 要点 */}&#10;      &lt;Box style={{ flexDirection: 'row', gap: 16, flex: 1 }}&gt;&#10;        &lt;Box style={{ flex: 1, background: '#FFFFFF', borderRadius: 14, border: '1px solid #F1E9DF', padding: '16px 20px', flexDirection: 'column', gap: 6 }}&gt;&#10;          &lt;Text style={{ fontSize: 19, fontWeight: 'bold', color: '#F97316' }}&gt;main() 唯一入口&lt;/Text&gt;&#10;          &lt;Text style={{ fontSize: 15.5, color: '#64748B', lineHeight: 1.55 }}&gt;程序从 main 开始执行，有且仅有一个，写多个直接报错。&lt;/Text&gt;&#10;        &lt;/Box&gt;&#10;        &lt;Box style={{ flex: 1, background: '#FFFFFF', borderRadius: 14, border: '1px solid #F1E9DF', padding: '16px 20px', flexDirection: 'column', gap: 6 }}&gt;&#10;          &lt;Text style={{ fontSize: 19, fontWeight: 'bold', color: '#F97316' }}&gt;头文件 #include&lt;/Text&gt;&#10;          &lt;Text style={{ fontSize: 15.5, color: '#64748B', lineHeight: 1.55 }}&gt;引入库功能：cin、cout 需要 iostream，数学函数需要 cmath。&lt;/Text&gt;&#10;        &lt;/Box&gt;&#10;        &lt;Box style={{ flex: 1, background: '#FFFFFF', borderRadius: 14, border: '1px solid #F1E9DF', padding: '16px 20px', flexDirection: 'column', gap: 6 }}&gt;&#10;          &lt;Text style={{ fontSize: 19, fontWeight: 'bold', color: '#F97316' }}&gt;注释不参与运行&lt;/Text&gt;&#10;          &lt;Text style={{ fontSize: 15.5, color: '#64748B', lineHeight: 1.55 }}&gt;单行 //，多行 /* */，都是写给人看的说明文字。&lt;/Text&gt;&#10;        &lt;/Box&gt;&#10;        &lt;Box style={{ flex: 1, background: 'rgba(236,72,153,0.10)', borderRadius: 14, border: '2px solid #EC4899', padding: '16px 20px', flexDirection: 'column', gap: 6 }}&gt;&#10;          &lt;Text style={{ fontSize: 19, fontWeight: 'bold', color: '#EC4899' }}&gt;⚠ 易错：注释不能嵌套&lt;/Text&gt;&#10;          &lt;Text style={{ fontSize: 15.5, color: '#64748B', lineHeight: 1.55 }}&gt;/* /* 注释 */ */ 是错的！遇到第一个 */ 注释就结束了。&lt;/Text&gt;&#10;        &lt;/Box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6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1 · C/C++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程序基础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666750" y="1390650"/>
            <a:ext cx="2857500" cy="489585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F97316"/>
              </a:gs>
              <a:gs pos="100000">
                <a:srgbClr val="EC4899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52500" y="1714500"/>
            <a:ext cx="2286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模块</a:t>
            </a: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 1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52500" y="2286000"/>
            <a:ext cx="22860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程序的骨架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怎么搭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52500" y="4962525"/>
            <a:ext cx="22860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开发常识是单选题的常客，</a:t>
            </a:r>
            <a:r>
              <a:rPr lang="en-US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main </a:t>
            </a:r>
            <a:r>
              <a:rPr lang="zh-CN" sz="12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函数和注释更是判断题的「钉子户」。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848100" y="1390650"/>
            <a:ext cx="7677150" cy="1476375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057650" y="1562100"/>
            <a:ext cx="7258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程序开发完整流程（单选高频）</a:t>
            </a:r>
            <a:endParaRPr/>
          </a:p>
        </p:txBody>
      </p:sp>
      <p:pic>
        <p:nvPicPr>
          <p:cNvPr id="2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57650" y="1857375"/>
            <a:ext cx="6096000" cy="838200"/>
          </a:xfrm>
          <a:prstGeom prst="rect">
            <a:avLst/>
          </a:prstGeom>
          <a:ln/>
        </p:spPr>
      </p:pic>
      <p:sp>
        <p:nvSpPr>
          <p:cNvPr id="209" name=""/>
          <p:cNvSpPr/>
          <p:nvPr/>
        </p:nvSpPr>
        <p:spPr>
          <a:xfrm rot="0" flipH="0" flipV="0">
            <a:off x="3848100" y="3038475"/>
            <a:ext cx="1809750" cy="3248025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038600" y="3190875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main() </a:t>
            </a: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唯一入口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038600" y="3467100"/>
            <a:ext cx="1428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程序从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main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开始执行，有且仅有一个，写多个直接报错。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5810250" y="3038475"/>
            <a:ext cx="1800225" cy="32480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00750" y="3190875"/>
            <a:ext cx="1419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头文件</a:t>
            </a: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 #include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00750" y="3467100"/>
            <a:ext cx="141922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引入库功能：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cin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cout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需要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iostream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，数学函数需要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cmath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762875" y="3038475"/>
            <a:ext cx="1809750" cy="3248025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953375" y="3190875"/>
            <a:ext cx="1428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注释不参与运行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953375" y="3467100"/>
            <a:ext cx="1428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单行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//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，多行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/* */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，都是写给人看的说明文字。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9725025" y="3038475"/>
            <a:ext cx="1800225" cy="3248025"/>
          </a:xfrm>
          <a:prstGeom prst="roundRect">
            <a:avLst>
              <a:gd name="adj" fmla="val 7407"/>
            </a:avLst>
          </a:prstGeom>
          <a:solidFill>
            <a:srgbClr val="EC4899">
              <a:alpha val="10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9915525" y="3190875"/>
            <a:ext cx="14192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C4899"/>
                </a:solidFill>
                <a:latin typeface="Microsoft YaHei"/>
                <a:ea typeface="Microsoft YaHei"/>
              </a:rPr>
              <a:t>⚠ </a:t>
            </a:r>
            <a:r>
              <a:rPr lang="zh-CN" sz="1425" b="1">
                <a:solidFill>
                  <a:srgbClr val="EC4899"/>
                </a:solidFill>
                <a:latin typeface="Microsoft YaHei"/>
                <a:ea typeface="Microsoft YaHei"/>
              </a:rPr>
              <a:t>易错：注释不能嵌套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915525" y="3686175"/>
            <a:ext cx="14192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/* /*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注释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*/ */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是错的！遇到第一个</a:t>
            </a:r>
            <a:r>
              <a:rPr lang="en-US" sz="1163">
                <a:solidFill>
                  <a:srgbClr val="64748B"/>
                </a:solidFill>
                <a:latin typeface="Microsoft YaHei"/>
                <a:ea typeface="Microsoft YaHei"/>
              </a:rPr>
              <a:t> */ </a:t>
            </a:r>
            <a:r>
              <a:rPr lang="zh-CN" sz="1163">
                <a:solidFill>
                  <a:srgbClr val="64748B"/>
                </a:solidFill>
                <a:latin typeface="Microsoft YaHei"/>
                <a:ea typeface="Microsoft YaHei"/>
              </a:rPr>
              <a:t>注释就结束了。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25" name="" descr="&lt;Slide style={{ width: 1280, height: 720, background: '#FAF7F2' }}&gt;&#10;  {/* A 区标题 */}&#10;  &lt;Box style={{ height: 120, padding: '28px 70px 0 70px' }}&gt;&#10;    &lt;Text style={{ fontSize: 34, fontWeight: 'bold', color: '#1A1A1A' }}&gt;一级头文件速查 —— 什么时候必须写&lt;/Text&gt;&#10;    &lt;Box style={{ width: 64, height: 6, background: '#F97316', borderRadius: 3, marginTop: 10 }} /&gt;&#10;  &lt;/Box&gt;&#10;  {/* B 区 55:45 双栏 */}&#10;  &lt;Box style={{ height: 540, padding: '24px 70px 0 70px', flexDirection: 'row', gap: 30 }}&gt;&#10;    {/* 左：头文件表 */}&#10;    &lt;Box style={{ width: 620, flexDirection: 'column', gap: 10 }}&gt;&#10;      &lt;Box style={{ flexDirection: 'row', gap: 14, background: '#1E293B', borderRadius: 10, padding: '10px 20px', alignItems: 'center' }}&gt;&#10;        &lt;Text style={{ fontSize: 17, fontWeight: 'bold', color: '#FFFFFF', width: 170 }}&gt;头文件&lt;/Text&gt;&#10;        &lt;Text style={{ fontSize: 17, fontWeight: 'bold', color: '#FFFFFF' }}&gt;什么时候必须写&lt;/Text&gt;&#10;      &lt;/Box&gt;&#10;      &lt;Box style={{ flexDirection: 'row', gap: 14, background: '#FFFFFF', borderRadius: 10, border: '1px solid #F1E9DF', padding: '13px 20px', alignItems: 'center' }}&gt;&#10;        &lt;Text style={{ fontSize: 16.5, fontWeight: 'bold', color: '#F97316', fontFamily: 'monospace', width: 170 }}&gt;{'&lt;iostream&gt;'}&lt;/Text&gt;&#10;        &lt;Text style={{ fontSize: 16.5, color: '#1A1A1A' }}&gt;cin、cout、endl —— 90% 编程题必写&lt;/Text&gt;&#10;      &lt;/Box&gt;&#10;      &lt;Box style={{ flexDirection: 'row', gap: 14, background: '#FFFFFF', borderRadius: 10, border: '1px solid #F1E9DF', padding: '13px 20px', alignItems: 'center' }}&gt;&#10;        &lt;Text style={{ fontSize: 16.5, fontWeight: 'bold', color: '#F97316', fontFamily: 'monospace', width: 170 }}&gt;{'&lt;cstdio&gt;'}&lt;/Text&gt;&#10;        &lt;Text style={{ fontSize: 16.5, color: '#1A1A1A' }}&gt;printf / scanf&lt;/Text&gt;&#10;      &lt;/Box&gt;&#10;      &lt;Box style={{ flexDirection: 'row', gap: 14, background: '#FFFFFF', borderRadius: 10, border: '1px solid #F1E9DF', padding: '13px 20px', alignItems: 'center' }}&gt;&#10;        &lt;Text style={{ fontSize: 16.5, fontWeight: 'bold', color: '#F97316', fontFamily: 'monospace', width: 170 }}&gt;{'&lt;cstdlib&gt;'}&lt;/Text&gt;&#10;        &lt;Text style={{ fontSize: 16.5, color: '#1A1A1A' }}&gt;整数 abs()&lt;/Text&gt;&#10;      &lt;/Box&gt;&#10;      &lt;Box style={{ flexDirection: 'row', gap: 14, background: '#FFFFFF', borderRadius: 10, border: '1px solid #F1E9DF', padding: '13px 20px', alignItems: 'center' }}&gt;&#10;        &lt;Text style={{ fontSize: 16.5, fontWeight: 'bold', color: '#F97316', fontFamily: 'monospace', width: 170 }}&gt;{'&lt;iomanip&gt;'}&lt;/Text&gt;&#10;        &lt;Text style={{ fontSize: 16.5, color: '#1A1A1A' }}&gt;setprecision()（保留小数）&lt;/Text&gt;&#10;      &lt;/Box&gt;&#10;      &lt;Box style={{ flexDirection: 'row', gap: 14, background: '#FFFFFF', borderRadius: 10, border: '1px solid #F1E9DF', padding: '13px 20px', alignItems: 'center' }}&gt;&#10;        &lt;Text style={{ fontSize: 16.5, fontWeight: 'bold', color: '#F97316', fontFamily: 'monospace', width: 170 }}&gt;{'&lt;cmath&gt;'}&lt;/Text&gt;&#10;        &lt;Text style={{ fontSize: 16.5, color: '#1A1A1A' }}&gt;fabs、sqrt 等数学函数，编程几乎不用，只考选择&lt;/Text&gt;&#10;      &lt;/Box&gt;&#10;      &lt;Box style={{ flexDirection: 'row', gap: 14, background: 'rgba(249,115,22,0.12)', borderRadius: 10, border: '2px solid #F97316', padding: '13px 20px', alignItems: 'center' }}&gt;&#10;        &lt;Text style={{ fontSize: 16.5, fontWeight: 'bold', color: '#F97316', fontFamily: 'monospace', width: 170 }}&gt;{'&lt;bits/stdc++.h&gt;'}&lt;/Text&gt;&#10;        &lt;Text style={{ fontSize: 16.5, color: '#1A1A1A' }}&gt;&lt;span style={{ fontWeight: 'bold' }}&gt;万能头文件&lt;/span&gt;：一个顶上面全部，懒人必备（考试环境 Dev-C++ 支持用它）&lt;/Text&gt;&#10;      &lt;/Box&gt;&#10;    &lt;/Box&gt;&#10;    {/* 右：坑点 */}&#10;    &lt;Box style={{ flex: 1, flexDirection: 'column', gap: 14 }}&gt;&#10;      &lt;Box style={{ background: 'rgba(236,72,153,0.10)', borderRadius: 14, border: '2px solid #EC4899', padding: '18px 22px', flexDirection: 'column', gap: 8 }}&gt;&#10;        &lt;Text style={{ fontSize: 19, fontWeight: 'bold', color: '#EC4899' }}&gt;⚠ 最容易记混的一对&lt;/Text&gt;&#10;        &lt;Text style={{ fontSize: 16.5, color: '#1A1A1A', lineHeight: 1.7 }}&gt;&#10;          &lt;span style={{ fontFamily: 'monospace', fontWeight: 'bold' }}&gt;fixed&lt;/span&gt; —— 不需要 iomanip&#10;          &lt;br /&gt;&lt;span style={{ fontFamily: 'monospace', fontWeight: 'bold' }}&gt;setprecision(数字)&lt;/span&gt; —— 必须 iomanip&#10;          &lt;br /&gt;&lt;span style={{ color: '#64748B' }}&gt;很多学生以为 fixed 要头文件，其实是 setprecision() 要。&lt;/span&gt;&#10;        &lt;/Text&gt;&#10;      &lt;/Box&gt;&#10;      &lt;Box style={{ background: '#FFFFFF', borderRadius: 14, border: '1px solid #F1E9DF', padding: '18px 22px', flexDirection: 'column', gap: 8 }}&gt;&#10;        &lt;Text style={{ fontSize: 19, fontWeight: 'bold', color: '#F97316' }}&gt;上机试一试（课堂演示）&lt;/Text&gt;&#10;        &lt;Text style={{ fontSize: 16, color: '#1A1A1A', lineHeight: 1.7 }}&gt;&#10;          写 &lt;span style={{ fontFamily: 'monospace' }}&gt;{'fixed &lt;&lt; setprecision(2)'}&lt;/span&gt;，&#10;          然后删掉 &lt;span style={{ fontFamily: 'monospace' }}&gt;{'#include &lt;iomanip&gt;'}&lt;/span&gt;——&#10;          看编译器报红色错误，印象比背十遍都深。&#10;        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7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一级头文件速查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什么时候必须写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666750" y="1371600"/>
            <a:ext cx="5905500" cy="390525"/>
          </a:xfrm>
          <a:prstGeom prst="roundRect">
            <a:avLst>
              <a:gd name="adj" fmla="val 2439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57250" y="146685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头文件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2609850" y="1466850"/>
            <a:ext cx="1162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什么时候必须写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66750" y="1857375"/>
            <a:ext cx="59055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57250" y="19812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97316"/>
                </a:solidFill>
                <a:latin typeface="monospace"/>
                <a:ea typeface="monospace"/>
              </a:rPr>
              <a:t>&lt;iostream&gt;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2609850" y="198120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cin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cout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endl —— 90%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编程题必写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66750" y="2390775"/>
            <a:ext cx="59055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57250" y="25146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97316"/>
                </a:solidFill>
                <a:latin typeface="monospace"/>
                <a:ea typeface="monospace"/>
              </a:rPr>
              <a:t>&lt;cstdio&gt;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2609850" y="2514600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printf / scanf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66750" y="2924175"/>
            <a:ext cx="59055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57250" y="30480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97316"/>
                </a:solidFill>
                <a:latin typeface="monospace"/>
                <a:ea typeface="monospace"/>
              </a:rPr>
              <a:t>&lt;cstdlib&gt;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2609850" y="3048000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整数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abs()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66750" y="3457575"/>
            <a:ext cx="59055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57250" y="35814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97316"/>
                </a:solidFill>
                <a:latin typeface="monospace"/>
                <a:ea typeface="monospace"/>
              </a:rPr>
              <a:t>&lt;iomanip&gt;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2609850" y="358140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setprecision()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（保留小数）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66750" y="3990975"/>
            <a:ext cx="59055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57250" y="41148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97316"/>
                </a:solidFill>
                <a:latin typeface="monospace"/>
                <a:ea typeface="monospace"/>
              </a:rPr>
              <a:t>&lt;cmath&gt;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609850" y="4114800"/>
            <a:ext cx="3495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fabs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sqrt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等数学函数，编程几乎不用，只考选择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66750" y="4524375"/>
            <a:ext cx="5905500" cy="438150"/>
          </a:xfrm>
          <a:prstGeom prst="roundRect">
            <a:avLst>
              <a:gd name="adj" fmla="val 21739"/>
            </a:avLst>
          </a:prstGeom>
          <a:solidFill>
            <a:srgbClr val="F97316">
              <a:alpha val="12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57250" y="4648200"/>
            <a:ext cx="127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F97316"/>
                </a:solidFill>
                <a:latin typeface="monospace"/>
                <a:ea typeface="monospace"/>
              </a:rPr>
              <a:t>&lt;bits/stdc++.h&gt;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266950" y="464820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万能头文件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：一个顶上面全部，懒人必备（考试环境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Dev-C++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支持用它）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858000" y="1371600"/>
            <a:ext cx="4667250" cy="1600200"/>
          </a:xfrm>
          <a:prstGeom prst="roundRect">
            <a:avLst>
              <a:gd name="adj" fmla="val 8333"/>
            </a:avLst>
          </a:prstGeom>
          <a:solidFill>
            <a:srgbClr val="EC4899">
              <a:alpha val="10000"/>
            </a:srgbClr>
          </a:solidFill>
          <a:ln w="254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067550" y="1543050"/>
            <a:ext cx="4248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C4899"/>
                </a:solidFill>
                <a:latin typeface="Microsoft YaHei"/>
                <a:ea typeface="Microsoft YaHei"/>
              </a:rPr>
              <a:t>⚠ </a:t>
            </a:r>
            <a:r>
              <a:rPr lang="zh-CN" sz="1425" b="1">
                <a:solidFill>
                  <a:srgbClr val="EC4899"/>
                </a:solidFill>
                <a:latin typeface="Microsoft YaHei"/>
                <a:ea typeface="Microsoft YaHei"/>
              </a:rPr>
              <a:t>最容易记混的一对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067550" y="1838325"/>
            <a:ext cx="4248150" cy="962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38" b="1">
                <a:solidFill>
                  <a:srgbClr val="1A1A1A"/>
                </a:solidFill>
                <a:latin typeface="Microsoft YaHei"/>
                <a:ea typeface="Microsoft YaHei"/>
              </a:rPr>
              <a:t>fixed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不需要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iomanip</a:t>
            </a:r>
            <a:endParaRPr/>
          </a:p>
          <a:p>
            <a:pPr>
              <a:lnSpc>
                <a:spcPct val="170000"/>
              </a:lnSpc>
            </a:pPr>
            <a:r>
              <a:rPr lang="en-US" sz="1238" b="1">
                <a:solidFill>
                  <a:srgbClr val="1A1A1A"/>
                </a:solidFill>
                <a:latin typeface="Microsoft YaHei"/>
                <a:ea typeface="Microsoft YaHei"/>
              </a:rPr>
              <a:t>setprecision(</a:t>
            </a: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数字</a:t>
            </a:r>
            <a:r>
              <a:rPr lang="en-US" sz="1238" b="1">
                <a:solidFill>
                  <a:srgbClr val="1A1A1A"/>
                </a:solidFill>
                <a:latin typeface="Microsoft YaHei"/>
                <a:ea typeface="Microsoft YaHei"/>
              </a:rPr>
              <a:t>)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必须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iomanip</a:t>
            </a:r>
            <a:endParaRPr/>
          </a:p>
          <a:p>
            <a:pPr>
              <a:lnSpc>
                <a:spcPct val="170000"/>
              </a:lnSpc>
            </a:pPr>
            <a:r>
              <a:rPr lang="zh-CN" sz="1238">
                <a:solidFill>
                  <a:srgbClr val="64748B"/>
                </a:solidFill>
                <a:latin typeface="Microsoft YaHei"/>
                <a:ea typeface="Microsoft YaHei"/>
              </a:rPr>
              <a:t>很多学生以为</a:t>
            </a:r>
            <a:r>
              <a:rPr lang="en-US" sz="1238">
                <a:solidFill>
                  <a:srgbClr val="64748B"/>
                </a:solidFill>
                <a:latin typeface="Microsoft YaHei"/>
                <a:ea typeface="Microsoft YaHei"/>
              </a:rPr>
              <a:t> fixed </a:t>
            </a:r>
            <a:r>
              <a:rPr lang="zh-CN" sz="1238">
                <a:solidFill>
                  <a:srgbClr val="64748B"/>
                </a:solidFill>
                <a:latin typeface="Microsoft YaHei"/>
                <a:ea typeface="Microsoft YaHei"/>
              </a:rPr>
              <a:t>要头文件，其实是</a:t>
            </a:r>
            <a:r>
              <a:rPr lang="en-US" sz="1238">
                <a:solidFill>
                  <a:srgbClr val="64748B"/>
                </a:solidFill>
                <a:latin typeface="Microsoft YaHei"/>
                <a:ea typeface="Microsoft YaHei"/>
              </a:rPr>
              <a:t> setprecision() </a:t>
            </a:r>
            <a:r>
              <a:rPr lang="zh-CN" sz="1238">
                <a:solidFill>
                  <a:srgbClr val="64748B"/>
                </a:solidFill>
                <a:latin typeface="Microsoft YaHei"/>
                <a:ea typeface="Microsoft YaHei"/>
              </a:rPr>
              <a:t>要。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858000" y="3105150"/>
            <a:ext cx="4667250" cy="12668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067550" y="3276600"/>
            <a:ext cx="4248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上机试一试（课堂演示）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067550" y="3571875"/>
            <a:ext cx="42481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写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fixed &lt;&lt; setprecision(2)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然后删掉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#include &lt;iomanip&gt;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——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看编译器报红色错误，印象比背十遍都深。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60" name="" descr="&lt;Slide style={{ width: 1280, height: 720, background: '#FAF7F2' }}&gt;&#10;  {/* A 区标题 */}&#10;  &lt;Box style={{ height: 120, padding: '28px 70px 0 70px' }}&gt;&#10;    &lt;Text style={{ fontSize: 34, fontWeight: 'bold', color: '#1A1A1A' }}&gt;模块 2 · 变量与标识符&lt;/Text&gt;&#10;    &lt;Box style={{ width: 64, height: 6, background: '#F97316', borderRadius: 3, marginTop: 10 }} /&gt;&#10;  &lt;/Box&gt;&#10;  {/* B 区 60:40 双栏 */}&#10;  &lt;Box style={{ height: 540, padding: '26px 70px 0 70px', flexDirection: 'row', gap: 34 }}&gt;&#10;    {/* 左 60% 规则 */}&#10;    &lt;Box style={{ width: 620, flexDirection: 'column', gap: 16, justifyContent: 'center' }}&gt;&#10;      &lt;Box style={{ flexDirection: 'row', gap: 16, alignItems: 'flex-start' }}&gt;&#10;        &lt;Box style={{ width: 40, height: 40, background: '#F97316', borderRadius: 20, alignItems: 'center', justifyContent: 'center', flexShrink: 0 }}&gt;&#10;          &lt;Text style={{ fontSize: 19, color: '#FFFFFF', fontWeight: 'bold' }}&gt;1&lt;/Text&gt;&#10;        &lt;/Box&gt;&#10;        &lt;Box style={{ flexDirection: 'column', gap: 3 }}&gt;&#10;          &lt;Text style={{ fontSize: 21, fontWeight: 'bold', color: '#1A1A1A' }}&gt;只能由字母、数字、下划线组成&lt;/Text&gt;&#10;          &lt;Text style={{ fontSize: 16, color: '#64748B', lineHeight: 1.5 }}&gt;不能出现 + - * / 等符号，my-name 这种带减号的名字非法。&lt;/Text&gt;&#10;        &lt;/Box&gt;&#10;      &lt;/Box&gt;&#10;      &lt;Box style={{ flexDirection: 'row', gap: 16, alignItems: 'flex-start' }}&gt;&#10;        &lt;Box style={{ width: 40, height: 40, background: '#F97316', borderRadius: 20, alignItems: 'center', justifyContent: 'center', flexShrink: 0 }}&gt;&#10;          &lt;Text style={{ fontSize: 19, color: '#FFFFFF', fontWeight: 'bold' }}&gt;2&lt;/Text&gt;&#10;        &lt;/Box&gt;&#10;        &lt;Box style={{ flexDirection: 'column', gap: 3 }}&gt;&#10;          &lt;Text style={{ fontSize: 21, fontWeight: 'bold', color: '#1A1A1A' }}&gt;不能以数字开头，区分大小写&lt;/Text&gt;&#10;          &lt;Text style={{ fontSize: 16, color: '#64748B', lineHeight: 1.5 }}&gt;2abc 非法；num 和 Num 是两个不同的变量（单选必考）。&lt;/Text&gt;&#10;        &lt;/Box&gt;&#10;      &lt;/Box&gt;&#10;      &lt;Box style={{ flexDirection: 'row', gap: 16, alignItems: 'flex-start' }}&gt;&#10;        &lt;Box style={{ width: 40, height: 40, background: '#F97316', borderRadius: 20, alignItems: 'center', justifyContent: 'center', flexShrink: 0 }}&gt;&#10;          &lt;Text style={{ fontSize: 19, color: '#FFFFFF', fontWeight: 'bold' }}&gt;3&lt;/Text&gt;&#10;        &lt;/Box&gt;&#10;        &lt;Box style={{ flexDirection: 'column', gap: 3 }}&gt;&#10;          &lt;Text style={{ fontSize: 21, fontWeight: 'bold', color: '#1A1A1A' }}&gt;不能用关键字当名字&lt;/Text&gt;&#10;          &lt;Text style={{ fontSize: 16, color: '#64748B', lineHeight: 1.5 }}&gt;int、double、const 这些是 C++ 的「保留词」，不能占用。&lt;/Text&gt;&#10;        &lt;/Box&gt;&#10;      &lt;/Box&gt;&#10;      &lt;Box style={{ background: '#FFFFFF', borderRadius: 14, border: '1px solid #F1E9DF', padding: '18px 22px', marginTop: 6 }}&gt;&#10;        &lt;Text style={{ fontSize: 19, fontWeight: 'bold', color: '#1A1A1A' }}&gt;基础类型重点：&lt;span style={{ color: '#F97316' }}&gt;int 整型&lt;/span&gt;&lt;/Text&gt;&#10;        &lt;Text style={{ fontSize: 16, color: '#64748B', lineHeight: 1.6, marginTop: 6 }}&gt;&#10;          int 存整数（如 10、-3）；double 存小数（如 3.14）；bool 存 true / false。&#10;          &lt;br /&gt;const 常量：&lt;span style={{ color: '#EC4899', fontWeight: 'bold' }}&gt;定义后值不能修改&lt;/span&gt;，N = 20 会直接编译报错（判断易错）。&#10;        &lt;/Text&gt;&#10;      &lt;/Box&gt;&#10;    &lt;/Box&gt;&#10;    {/* 右 40% 正误对照 */}&#10;    &lt;Box style={{ flex: 1, flexDirection: 'column', gap: 16, justifyContent: 'center' }}&gt;&#10;      &lt;Box style={{ background: '#FFFFFF', borderRadius: 16, border: '2px solid #22C55E', padding: '20px 24px', flexDirection: 'column', gap: 10 }}&gt;&#10;        &lt;Text style={{ fontSize: 20, fontWeight: 'bold', color: '#22C55E' }}&gt;✓ 合法的变量名&lt;/Text&gt;&#10;        &lt;Text style={{ fontSize: 18, color: '#1A1A1A', fontFamily: 'monospace', lineHeight: 1.8 }}&gt;sum_1&lt;br /&gt;_score（下划线开头可以）&lt;br /&gt;Int（大写 I 不是关键字）&lt;/Text&gt;&#10;      &lt;/Box&gt;&#10;      &lt;Box style={{ background: '#FFFFFF', borderRadius: 16, border: '2px solid #EF4444', padding: '20px 24px', flexDirection: 'column', gap: 10 }}&gt;&#10;        &lt;Text style={{ fontSize: 20, fontWeight: 'bold', color: '#EF4444' }}&gt;✗ 非法的变量名&lt;/Text&gt;&#10;        &lt;Text style={{ fontSize: 18, color: '#1A1A1A', fontFamily: 'monospace', lineHeight: 1.8 }}&gt;2abc（数字开头）&lt;br /&gt;int（关键字）&lt;br /&gt;my-name（带减号）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8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2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变量与标识符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666750" y="21526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09625" y="2238375"/>
            <a:ext cx="10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200150" y="2152650"/>
            <a:ext cx="4086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只能由字母、数字、下划线组成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200150" y="2428875"/>
            <a:ext cx="40862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不能出现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+ - * /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等符号，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my-name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这种带减号的名字非法。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66750" y="2857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09625" y="2943225"/>
            <a:ext cx="10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200150" y="2857500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不能以数字开头，区分大小写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200150" y="3133725"/>
            <a:ext cx="4076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2abc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非法；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num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Num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是两个不同的变量（单选必考）。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66750" y="3562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09625" y="3648075"/>
            <a:ext cx="10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200150" y="3562350"/>
            <a:ext cx="4048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不能用关键字当名字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200150" y="3838575"/>
            <a:ext cx="4048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int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double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const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这些是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C++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的「保留词」，不能占用。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66750" y="4324350"/>
            <a:ext cx="5905500" cy="1209675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76300" y="4495800"/>
            <a:ext cx="5486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基础类型重点：</a:t>
            </a:r>
            <a:r>
              <a:rPr lang="en-US" sz="1425" b="1">
                <a:solidFill>
                  <a:srgbClr val="F97316"/>
                </a:solidFill>
                <a:latin typeface="Microsoft YaHei"/>
                <a:ea typeface="Microsoft YaHei"/>
              </a:rPr>
              <a:t>int </a:t>
            </a:r>
            <a:r>
              <a:rPr lang="zh-CN" sz="1425" b="1">
                <a:solidFill>
                  <a:srgbClr val="F97316"/>
                </a:solidFill>
                <a:latin typeface="Microsoft YaHei"/>
                <a:ea typeface="Microsoft YaHei"/>
              </a:rPr>
              <a:t>整型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76300" y="4772025"/>
            <a:ext cx="54864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int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存整数（如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10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-3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）；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double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存小数（如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3.14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）；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bool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存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true / false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const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常量：</a:t>
            </a:r>
            <a:r>
              <a:rPr lang="zh-CN" sz="1200" b="1">
                <a:solidFill>
                  <a:srgbClr val="EC4899"/>
                </a:solidFill>
                <a:latin typeface="Microsoft YaHei"/>
                <a:ea typeface="Microsoft YaHei"/>
              </a:rPr>
              <a:t>定义后值不能修改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N = 20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会直接编译报错（判断易错）。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896100" y="1943100"/>
            <a:ext cx="4629150" cy="1819275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124700" y="2133600"/>
            <a:ext cx="417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C55E"/>
                </a:solidFill>
                <a:latin typeface="Microsoft YaHei"/>
                <a:ea typeface="Microsoft YaHei"/>
              </a:rPr>
              <a:t>✓ </a:t>
            </a:r>
            <a:r>
              <a:rPr lang="zh-CN" sz="1500" b="1">
                <a:solidFill>
                  <a:srgbClr val="22C55E"/>
                </a:solidFill>
                <a:latin typeface="Microsoft YaHei"/>
                <a:ea typeface="Microsoft YaHei"/>
              </a:rPr>
              <a:t>合法的变量名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124700" y="2457450"/>
            <a:ext cx="4171950" cy="1114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sum_1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_score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（下划线开头可以）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Int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（大写</a:t>
            </a: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 I 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不是关键字）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896100" y="3914775"/>
            <a:ext cx="4629150" cy="1819275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124700" y="4105275"/>
            <a:ext cx="417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F4444"/>
                </a:solidFill>
                <a:latin typeface="Microsoft YaHei"/>
                <a:ea typeface="Microsoft YaHei"/>
              </a:rPr>
              <a:t>✗ </a:t>
            </a:r>
            <a:r>
              <a:rPr lang="zh-CN" sz="1500" b="1">
                <a:solidFill>
                  <a:srgbClr val="EF4444"/>
                </a:solidFill>
                <a:latin typeface="Microsoft YaHei"/>
                <a:ea typeface="Microsoft YaHei"/>
              </a:rPr>
              <a:t>非法的变量名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124700" y="4429125"/>
            <a:ext cx="4171950" cy="1114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2abc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（数字开头）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int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（关键字）</a:t>
            </a:r>
            <a:endParaRPr/>
          </a:p>
          <a:p>
            <a:pPr>
              <a:lnSpc>
                <a:spcPct val="180000"/>
              </a:lnSpc>
            </a:pPr>
            <a:r>
              <a:rPr lang="en-US" sz="1350">
                <a:solidFill>
                  <a:srgbClr val="1A1A1A"/>
                </a:solidFill>
                <a:latin typeface="monospace"/>
                <a:ea typeface="monospace"/>
              </a:rPr>
              <a:t>my-name</a:t>
            </a:r>
            <a:r>
              <a:rPr lang="zh-CN" sz="1350">
                <a:solidFill>
                  <a:srgbClr val="1A1A1A"/>
                </a:solidFill>
                <a:latin typeface="monospace"/>
                <a:ea typeface="monospace"/>
              </a:rPr>
              <a:t>（带减号）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89" name="" descr="&lt;Slide style={{ width: 1280, height: 720, background: '#FAF7F2' }}&gt;&#10;  {/* A 区标题 */}&#10;  &lt;Box style={{ height: 120, padding: '28px 70px 0 70px' }}&gt;&#10;    &lt;Text style={{ fontSize: 34, fontWeight: 'bold', color: '#1A1A1A' }}&gt;模块 3 · 输入输出语句&lt;/Text&gt;&#10;    &lt;Box style={{ width: 64, height: 6, background: '#F97316', borderRadius: 3, marginTop: 10 }} /&gt;&#10;  &lt;/Box&gt;&#10;  {/* B 区 4 卡横排 */}&#10;  &lt;Box style={{ height: 540, padding: '26px 70px 26px 70px', flexDirection: 'row', gap: 18 }}&gt;&#10;    &lt;Box style={{ flex: 1, background: '#FFFFFF', borderRadius: 16, border: '1px solid #F1E9DF', borderTop: '5px solid #F97316', padding: '22px 20px', flexDirection: 'column', gap: 10 }}&gt;&#10;      &lt;Text style={{ fontSize: 40, fontWeight: 'bold', color: '#F97316', fontFamily: 'monospace' }}&gt;{'&gt;&gt; &lt;&lt;'}&lt;/Text&gt;&#10;      &lt;Text style={{ fontSize: 21, fontWeight: 'bold', color: '#1A1A1A' }}&gt;cin 与 cout&lt;/Text&gt;&#10;      &lt;Text style={{ fontSize: 16, color: '#64748B', lineHeight: 1.6, flex: 1 }}&gt;&#10;        cin &lt;span style={{ fontWeight: 'bold' }}&gt;＞＞&lt;/span&gt; 读输入，cout &lt;span style={{ fontWeight: 'bold' }}&gt;＜＜&lt;/span&gt; 做输出。&#10;        &lt;br /&gt;使用前要 &lt;span style={{ fontFamily: 'monospace' }}&gt;#include {'&lt;iostream&gt;'}&lt;/span&gt;。&#10;      &lt;/Text&gt;&#10;      &lt;Box style={{ background: '#1E293B', borderRadius: 8, padding: '10px 12px' }}&gt;&#10;        &lt;Text style={{ fontSize: 13.5, color: '#F8FAFC', fontFamily: 'monospace' }}&gt;cin {'&gt;'}{'}'} a;&lt;br /&gt;cout {'&lt;'}{'&lt;'} a;&lt;/Text&gt;&#10;      &lt;/Box&gt;&#10;    &lt;/Box&gt;&#10;    &lt;Box style={{ flex: 1, background: '#FFFFFF', borderRadius: 16, border: '1px solid #F1E9DF', borderTop: '5px solid #EC4899', padding: '22px 20px', flexDirection: 'column', gap: 10 }}&gt;&#10;      &lt;Text style={{ fontSize: 40, fontWeight: 'bold', color: '#EC4899', fontFamily: 'monospace' }}&gt;endl&lt;/Text&gt;&#10;      &lt;Text style={{ fontSize: 21, fontWeight: 'bold', color: '#1A1A1A' }}&gt;{'endl 与 &quot;' + String.fromCharCode(92, 0x200B, 110) + '&quot;'}&lt;/Text&gt;&#10;      &lt;Text style={{ fontSize: 16, color: '#64748B', lineHeight: 1.6, flex: 1 }}&gt;&#10;        endl = &lt;span style={{ fontWeight: 'bold', color: '#1A1A1A' }}&gt;换行 + 刷新缓冲区&lt;/span&gt;。&#10;        &lt;br /&gt;{'&quot;' + String.fromCharCode(92, 0x200B, 110) + '&quot;'} 只负责换行。&#10;        &lt;br /&gt;判断题最爱考「两者完全没区别」—— 是错的！&#10;      &lt;/Text&gt;&#10;      &lt;Box style={{ background: '#1E293B', borderRadius: 8, padding: '10px 12px' }}&gt;&#10;        &lt;Text style={{ fontSize: 13.5, color: '#F8FAFC', fontFamily: 'monospace' }}&gt;cout {'&lt;'}{'&lt;'} 1 {'&lt;'}{'&lt;'} endl;&lt;/Text&gt;&#10;      &lt;/Box&gt;&#10;    &lt;/Box&gt;&#10;    &lt;Box style={{ flex: 1, background: '#FFFFFF', borderRadius: 16, border: '1px solid #F1E9DF', borderTop: '5px solid #F97316', padding: '22px 20px', flexDirection: 'column', gap: 10 }}&gt;&#10;      &lt;Text style={{ fontSize: 40, fontWeight: 'bold', color: '#F97316', fontFamily: 'monospace' }}&gt;%d&lt;/Text&gt;&#10;      &lt;Text style={{ fontSize: 21, fontWeight: 'bold', color: '#1A1A1A' }}&gt;printf 基础格式&lt;/Text&gt;&#10;      &lt;Text style={{ fontSize: 16, color: '#64748B', lineHeight: 1.6, flex: 1 }}&gt;&#10;        %d 输出&lt;span style={{ fontWeight: 'bold' }}&gt;整数&lt;/span&gt;，%f 输出小数，%c 输出字符。&#10;        &lt;br /&gt;格式符和后面的数要一一对应。&#10;      &lt;/Text&gt;&#10;      &lt;Box style={{ background: '#1E293B', borderRadius: 8, padding: '10px 12px' }}&gt;&#10;        &lt;Text style={{ fontSize: 13.5, color: '#F8FAFC', fontFamily: 'monospace' }}&gt;printf({'&quot;%d&quot;'} , 25);&lt;/Text&gt;&#10;      &lt;/Box&gt;&#10;    &lt;/Box&gt;&#10;    &lt;Box style={{ flex: 1, background: '#FFFFFF', borderRadius: 16, border: '1px solid #F1E9DF', borderTop: '5px solid #EC4899', padding: '22px 20px', flexDirection: 'column', gap: 10 }}&gt;&#10;      &lt;Text style={{ fontSize: 40, fontWeight: 'bold', color: '#EC4899', fontFamily: 'monospace' }}&gt;a b c&lt;/Text&gt;&#10;      &lt;Text style={{ fontSize: 21, fontWeight: 'bold', color: '#1A1A1A' }}&gt;多变量连续输入&lt;/Text&gt;&#10;      &lt;Text style={{ fontSize: 16, color: '#64748B', lineHeight: 1.6, flex: 1 }}&gt;&#10;        连写多个 {'&gt;'}{'}'} 一次读多个数，输入时&lt;span style={{ fontWeight: 'bold' }}&gt;用空格隔开&lt;/span&gt;，自动按顺序分配。&#10;      &lt;/Text&gt;&#10;      &lt;Box style={{ background: '#1E293B', borderRadius: 8, padding: '10px 12px' }}&gt;&#10;        &lt;Text style={{ fontSize: 13.5, color: '#F8FAFC', fontFamily: 'monospace' }}&gt;cin {'&gt;'}{'}'} a {'&gt;'}{'}'} b {'&gt;'}{'}'} c;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09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3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输入输出语句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66750" y="1438275"/>
            <a:ext cx="2590800" cy="4648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66750" y="1438275"/>
            <a:ext cx="2590800" cy="4648200"/>
          </a:xfrm>
          <a:custGeom>
            <a:pathLst>
              <a:path w="272" h="488">
                <a:moveTo>
                  <a:pt x="257" y="0"/>
                </a:moveTo>
                <a:cubicBezTo>
                  <a:pt x="264" y="0"/>
                  <a:pt x="270" y="6"/>
                  <a:pt x="272" y="13"/>
                </a:cubicBezTo>
                <a:cubicBezTo>
                  <a:pt x="270" y="8"/>
                  <a:pt x="266" y="5"/>
                  <a:pt x="261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6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57250" y="1647825"/>
            <a:ext cx="2209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monospace"/>
                <a:ea typeface="monospace"/>
              </a:rPr>
              <a:t>&gt;&gt; &lt;&lt;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57250" y="2200275"/>
            <a:ext cx="220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cin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与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cout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57250" y="2543175"/>
            <a:ext cx="2209800" cy="2686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cin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＞＞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读输入，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cout 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＜＜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做输出。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使用前要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#include 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&lt;iostream&gt;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857250" y="5324475"/>
            <a:ext cx="2209800" cy="504825"/>
          </a:xfrm>
          <a:prstGeom prst="roundRect">
            <a:avLst>
              <a:gd name="adj" fmla="val 15094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71550" y="5419725"/>
            <a:ext cx="1981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cin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a;</a:t>
            </a:r>
            <a:endParaRPr/>
          </a:p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cout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a;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3429000" y="1438275"/>
            <a:ext cx="2581275" cy="4648200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3429000" y="1438275"/>
            <a:ext cx="2581275" cy="4648200"/>
          </a:xfrm>
          <a:custGeom>
            <a:pathLst>
              <a:path w="271" h="488">
                <a:moveTo>
                  <a:pt x="256" y="0"/>
                </a:moveTo>
                <a:cubicBezTo>
                  <a:pt x="263" y="0"/>
                  <a:pt x="269" y="6"/>
                  <a:pt x="271" y="13"/>
                </a:cubicBezTo>
                <a:cubicBezTo>
                  <a:pt x="269" y="8"/>
                  <a:pt x="265" y="5"/>
                  <a:pt x="260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5" y="0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619500" y="1647825"/>
            <a:ext cx="2200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C4899"/>
                </a:solidFill>
                <a:latin typeface="monospace"/>
                <a:ea typeface="monospace"/>
              </a:rPr>
              <a:t>endl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619500" y="2200275"/>
            <a:ext cx="2200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endl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与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"\​n"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619500" y="2543175"/>
            <a:ext cx="2200275" cy="2838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endl =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换行</a:t>
            </a: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刷新缓冲区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"\​n"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只负责换行。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判断题最爱考「两者完全没区别」——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是错的！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619500" y="5476875"/>
            <a:ext cx="2200275" cy="352425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3733800" y="557212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cout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1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&lt;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endl;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181725" y="1438275"/>
            <a:ext cx="2590800" cy="4648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6181725" y="1438275"/>
            <a:ext cx="2590800" cy="4648200"/>
          </a:xfrm>
          <a:custGeom>
            <a:pathLst>
              <a:path w="272" h="488">
                <a:moveTo>
                  <a:pt x="257" y="0"/>
                </a:moveTo>
                <a:cubicBezTo>
                  <a:pt x="264" y="0"/>
                  <a:pt x="270" y="6"/>
                  <a:pt x="272" y="13"/>
                </a:cubicBezTo>
                <a:cubicBezTo>
                  <a:pt x="270" y="8"/>
                  <a:pt x="266" y="5"/>
                  <a:pt x="261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6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372225" y="1647825"/>
            <a:ext cx="2209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monospace"/>
                <a:ea typeface="monospace"/>
              </a:rPr>
              <a:t>%d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372225" y="2200275"/>
            <a:ext cx="220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printf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基础格式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372225" y="2543175"/>
            <a:ext cx="2209800" cy="2838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%d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输出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整数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%f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输出小数，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%c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输出字符。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格式符和后面的数要一一对应。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372225" y="5476875"/>
            <a:ext cx="2209800" cy="352425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486525" y="557212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printf(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"%d"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, 25);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8943975" y="1438275"/>
            <a:ext cx="2581275" cy="4648200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8943975" y="1438275"/>
            <a:ext cx="2581275" cy="4648200"/>
          </a:xfrm>
          <a:custGeom>
            <a:pathLst>
              <a:path w="271" h="488">
                <a:moveTo>
                  <a:pt x="256" y="0"/>
                </a:moveTo>
                <a:cubicBezTo>
                  <a:pt x="263" y="0"/>
                  <a:pt x="269" y="6"/>
                  <a:pt x="271" y="13"/>
                </a:cubicBezTo>
                <a:cubicBezTo>
                  <a:pt x="269" y="8"/>
                  <a:pt x="265" y="5"/>
                  <a:pt x="260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5" y="0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134475" y="1647825"/>
            <a:ext cx="2200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C4899"/>
                </a:solidFill>
                <a:latin typeface="monospace"/>
                <a:ea typeface="monospace"/>
              </a:rPr>
              <a:t>a b c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9134475" y="2200275"/>
            <a:ext cx="2200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多变量连续输入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134475" y="2543175"/>
            <a:ext cx="2200275" cy="2838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连写多个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&gt;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}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一次读多个数，输入时</a:t>
            </a:r>
            <a:r>
              <a:rPr lang="zh-CN" sz="1200" b="1">
                <a:solidFill>
                  <a:srgbClr val="64748B"/>
                </a:solidFill>
                <a:latin typeface="Microsoft YaHei"/>
                <a:ea typeface="Microsoft YaHei"/>
              </a:rPr>
              <a:t>用空格隔开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，自动按顺序分配。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9134475" y="5476875"/>
            <a:ext cx="2200275" cy="352425"/>
          </a:xfrm>
          <a:prstGeom prst="roundRect">
            <a:avLst>
              <a:gd name="adj" fmla="val 2162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248775" y="557212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cin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a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b 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&gt;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}</a:t>
            </a:r>
            <a:r>
              <a:rPr lang="en-US" sz="1013">
                <a:solidFill>
                  <a:srgbClr val="F8FAFC"/>
                </a:solidFill>
                <a:latin typeface="monospace"/>
                <a:ea typeface="monospace"/>
              </a:rPr>
              <a:t> c;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0" name="" descr="&lt;Slide style={{ width: 1280, height: 720, background: '#FAF7F2', position: 'relative', overflow: 'hidden' }}&gt;&#10;  {/* 装饰 */}&#10;  &lt;Box style={{ position: 'absolute', top: -60, right: -60, width: 240, height: 240, background: 'rgba(249,115,22,0.10)', borderRadius: 120 }} /&gt;&#10;  {/* A 区标题 */}&#10;  &lt;Box style={{ height: 120, padding: '28px 70px 0 70px', zIndex: 1 }}&gt;&#10;    &lt;Text style={{ fontSize: 34, fontWeight: 'bold', color: '#1A1A1A' }}&gt;模块 4 · 算术运算【最高频易错】&lt;/Text&gt;&#10;    &lt;Box style={{ width: 64, height: 6, background: '#EC4899', borderRadius: 3, marginTop: 10 }} /&gt;&#10;  &lt;/Box&gt;&#10;  {/* B 区 */}&#10;  &lt;Box style={{ height: 540, padding: '20px 70px 0 70px', flexDirection: 'column', gap: 26, zIndex: 1 }}&gt;&#10;    {/* 巨型锚点 */}&#10;    &lt;Box style={{ flexDirection: 'row', alignItems: 'center', gap: 50 }}&gt;&#10;      &lt;Text style={{ fontSize: 104, fontWeight: 'bold', color: '#F97316', lineHeight: 1, fontFamily: 'monospace' }}&gt;9 / 2 = 4&lt;/Text&gt;&#10;      &lt;Box style={{ flexDirection: 'column', gap: 4 }}&gt;&#10;        &lt;Text style={{ fontSize: 27, fontWeight: 'bold', color: '#1A1A1A' }}&gt;两个 int 相除，小数直接丢弃！&lt;/Text&gt;&#10;        &lt;Text style={{ fontSize: 19, color: '#64748B' }}&gt;不是四舍五入，是直接砍掉 —— 这是整张卷子最容易踩的坑&lt;/Text&gt;&#10;      &lt;/Box&gt;&#10;    &lt;/Box&gt;&#10;    {/* 三个洞察卡 */}&#10;    &lt;Box style={{ flexDirection: 'row', gap: 18, flex: 1 }}&gt;&#10;      &lt;Box style={{ flex: 1, background: '#FFFFFF', borderRadius: 16, border: '2px solid #F97316', padding: '22px 24px', flexDirection: 'column', gap: 10, justifyContent: 'center' }}&gt;&#10;        &lt;Text style={{ fontSize: 30, fontWeight: 'bold', color: '#F97316', fontFamily: 'monospace' }}&gt;9.0 / 2 = 4.5&lt;/Text&gt;&#10;        &lt;Text style={{ fontSize: 16.5, color: '#1A1A1A', lineHeight: 1.6 }}&gt;只要有一个数带小数点，就按&lt;span style={{ fontWeight: 'bold' }}&gt;小数除法&lt;/span&gt;算，结果保留小数。&lt;/Text&gt;&#10;      &lt;/Box&gt;&#10;      &lt;Box style={{ flex: 1, background: '#FFFFFF', borderRadius: 16, border: '2px solid #EC4899', padding: '22px 24px', flexDirection: 'column', gap: 10, justifyContent: 'center' }}&gt;&#10;        &lt;Text style={{ fontSize: 30, fontWeight: 'bold', color: '#EC4899', fontFamily: 'monospace' }}&gt;-7 % 3 = -1&lt;/Text&gt;&#10;        &lt;Text style={{ fontSize: 16.5, color: '#1A1A1A', lineHeight: 1.6 }}&gt;% 只能用于整数，&lt;span style={{ fontWeight: 'bold' }}&gt;余数的符号跟着被除数走&lt;/span&gt;。&lt;/Text&gt;&#10;      &lt;/Box&gt;&#10;      &lt;Box style={{ flex: 1, background: '#FFFFFF', borderRadius: 16, border: '2px solid #1E293B', padding: '22px 24px', flexDirection: 'column', gap: 10, justifyContent: 'center' }}&gt;&#10;        &lt;Text style={{ fontSize: 30, fontWeight: 'bold', color: '#1E293B', fontFamily: 'monospace' }}&gt;abs(-8) = 8&lt;/Text&gt;&#10;        &lt;Text style={{ fontSize: 16.5, color: '#1A1A1A', lineHeight: 1.6 }}&gt;abs() 求绝对值，只去负号；和 sqrt、pow 一样需要 cmath。&lt;/Text&gt;&#10;      &lt;/Box&gt;&#10;    &lt;/Box&gt;&#10;  &lt;/Box&gt;&#10;  {/* C 区页脚 */}&#10;  &lt;Box style={{ height: 60, padding: '0 70px 20px 70px', flexDirection: 'row', justifyContent: 'space-between', alignItems: 'flex-end', zIndex: 1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0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10477500" y="-571500"/>
            <a:ext cx="2286000" cy="2286000"/>
          </a:xfrm>
          <a:custGeom>
            <a:pathLst>
              <a:path w="240" h="240">
                <a:moveTo>
                  <a:pt x="180" y="224"/>
                </a:moveTo>
                <a:cubicBezTo>
                  <a:pt x="133" y="251"/>
                  <a:pt x="74" y="243"/>
                  <a:pt x="35" y="205"/>
                </a:cubicBezTo>
                <a:cubicBezTo>
                  <a:pt x="-3" y="166"/>
                  <a:pt x="-11" y="107"/>
                  <a:pt x="16" y="60"/>
                </a:cubicBezTo>
                <a:lnTo>
                  <a:pt x="180" y="60"/>
                </a:lnTo>
                <a:close/>
              </a:path>
            </a:pathLst>
          </a:cu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4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算术运算【最高频易错】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66750" y="1333500"/>
            <a:ext cx="537210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97316"/>
                </a:solidFill>
                <a:latin typeface="monospace"/>
                <a:ea typeface="monospace"/>
              </a:rPr>
              <a:t>9 / 2 = 4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515100" y="1647825"/>
            <a:ext cx="48958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1A1A"/>
                </a:solidFill>
                <a:latin typeface="Microsoft YaHei"/>
                <a:ea typeface="Microsoft YaHei"/>
              </a:rPr>
              <a:t>两个</a:t>
            </a:r>
            <a:r>
              <a:rPr lang="en-US" sz="2025" b="1">
                <a:solidFill>
                  <a:srgbClr val="1A1A1A"/>
                </a:solidFill>
                <a:latin typeface="Microsoft YaHei"/>
                <a:ea typeface="Microsoft YaHei"/>
              </a:rPr>
              <a:t> int </a:t>
            </a:r>
            <a:r>
              <a:rPr lang="zh-CN" sz="2025" b="1">
                <a:solidFill>
                  <a:srgbClr val="1A1A1A"/>
                </a:solidFill>
                <a:latin typeface="Microsoft YaHei"/>
                <a:ea typeface="Microsoft YaHei"/>
              </a:rPr>
              <a:t>相除，小数直接丢弃！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515100" y="2000250"/>
            <a:ext cx="489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不是四舍五入，是直接砍掉</a:t>
            </a:r>
            <a:r>
              <a:rPr lang="en-US" sz="1425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64748B"/>
                </a:solidFill>
                <a:latin typeface="Microsoft YaHei"/>
                <a:ea typeface="Microsoft YaHei"/>
              </a:rPr>
              <a:t>这是整张卷子最容易踩的坑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66750" y="2771775"/>
            <a:ext cx="3505200" cy="351472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9535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97316"/>
                </a:solidFill>
                <a:latin typeface="monospace"/>
                <a:ea typeface="monospace"/>
              </a:rPr>
              <a:t>9.0 / 2 = 4.5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95350" y="4448175"/>
            <a:ext cx="3048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只要有一个数带小数点，就按</a:t>
            </a: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小数除法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算，结果保留小数。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4343400" y="2771775"/>
            <a:ext cx="3505200" cy="351472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57200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C4899"/>
                </a:solidFill>
                <a:latin typeface="monospace"/>
                <a:ea typeface="monospace"/>
              </a:rPr>
              <a:t>-7 % 3 = -1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572000" y="4448175"/>
            <a:ext cx="3048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%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只能用于整数，</a:t>
            </a:r>
            <a:r>
              <a:rPr lang="zh-CN" sz="1238" b="1">
                <a:solidFill>
                  <a:srgbClr val="1A1A1A"/>
                </a:solidFill>
                <a:latin typeface="Microsoft YaHei"/>
                <a:ea typeface="Microsoft YaHei"/>
              </a:rPr>
              <a:t>余数的符号跟着被除数走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020050" y="2771775"/>
            <a:ext cx="3505200" cy="351472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24865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onospace"/>
                <a:ea typeface="monospace"/>
              </a:rPr>
              <a:t>abs(-8) = 8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248650" y="4448175"/>
            <a:ext cx="3048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abs()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求绝对值，只去负号；和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sqrt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pow 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一样需要</a:t>
            </a:r>
            <a:r>
              <a:rPr lang="en-US" sz="1238">
                <a:solidFill>
                  <a:srgbClr val="1A1A1A"/>
                </a:solidFill>
                <a:latin typeface="Microsoft YaHei"/>
                <a:ea typeface="Microsoft YaHei"/>
              </a:rPr>
              <a:t> cmath</a:t>
            </a:r>
            <a:r>
              <a:rPr lang="zh-CN" sz="1238">
                <a:solidFill>
                  <a:srgbClr val="1A1A1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31" name="" descr="&lt;Slide style={{ width: 1280, height: 720, background: '#FAF7F2' }}&gt;&#10;  {/* A 区标题 */}&#10;  &lt;Box style={{ height: 120, padding: '28px 70px 0 70px' }}&gt;&#10;    &lt;Text style={{ fontSize: 34, fontWeight: 'bold', color: '#1A1A1A' }}&gt;模块 5 · 程序三大结构&lt;/Text&gt;&#10;    &lt;Box style={{ width: 64, height: 6, background: '#F97316', borderRadius: 3, marginTop: 10 }} /&gt;&#10;  &lt;/Box&gt;&#10;  {/* B 区 60:40 */}&#10;  &lt;Box style={{ height: 540, padding: '26px 70px 0 70px', flexDirection: 'row', gap: 34 }}&gt;&#10;    {/* 左 60% 三结构 */}&#10;    &lt;Box style={{ width: 620, flexDirection: 'column', gap: 16, justifyContent: 'center' }}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顺序结构 —— 从上到下依次执行&lt;/Text&gt;&#10;        &lt;Text style={{ fontSize: 16, color: '#64748B', lineHeight: 1.55 }}&gt;没有 if、没有循环时，代码一行一行往下走，不会跳过也不会回头。&lt;/Text&gt;&#10;      &lt;/Box&gt;&#10;      &lt;Box style={{ background: '#FFFFFF', borderRadius: 14, border: '1px solid #F1E9DF', borderLeft: '6px solid #EC4899', padding: '18px 22px', flexDirection: 'column', gap: 5 }}&gt;&#10;        &lt;Text style={{ fontSize: 21, fontWeight: 'bold', color: '#1A1A1A' }}&gt;分支结构 —— if 条件表达式写法&lt;/Text&gt;&#10;        &lt;Text style={{ fontSize: 16, color: '#64748B', lineHeight: 1.55 }}&gt;条件必须写在圆括号里；「大于等于」要写 &lt;span style={{ fontFamily: 'monospace', fontWeight: 'bold', color: '#EC4899' }}&gt;{'&gt;='}&lt;/span&gt;，键盘上打不出 ≥；判断相等用 ==。&lt;/Text&gt;&#10;      &lt;/Box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简单循环 —— 循环规律 + 取模运算&lt;/Text&gt;&#10;        &lt;Text style={{ fontSize: 16, color: '#64748B', lineHeight: 1.55 }}&gt;for / while 都要会；&lt;span style={{ fontWeight: 'bold', color: '#F97316' }}&gt;「循环 + 取模」是编程题的核心套路&lt;/span&gt;：判断倍数、统计、累加全靠它。&lt;/Text&gt;&#10;      &lt;/Box&gt;&#10;    &lt;/Box&gt;&#10;    {/* 右 40% 代码块 */}&#10;    &lt;Box style={{ flex: 1, flexDirection: 'column', gap: 12, justifyContent: 'center' }}&gt;&#10;      &lt;Text style={{ fontSize: 19, fontWeight: 'bold', color: '#1A1A1A' }}&gt;编程题核心套路 · 看懂这段就够&lt;/Text&gt;&#10;      &lt;CodeBlock&#10;        code={`int n, sum = 0;&#10;cin &gt;&gt; n;&#10;for (int i = 1; i &lt;= n; i++) {&#10;    if (i % 7 == 0) {&#10;        sum += i;   // 是 7 的倍数就累加&#10;    }&#10;}&#10;cout &lt;&lt; sum &lt;&lt; endl;`}&#10;        language='cpp'&#10;        width={420}&#10;        fontSize={15}&#10;      /&gt;&#10;      &lt;Box style={{ background: 'rgba(249,115,22,0.12)', borderRadius: 10, padding: '12px 16px' }}&gt;&#10;        &lt;Text style={{ fontSize: 16, color: '#1A1A1A', lineHeight: 1.6 }}&gt;&lt;span style={{ fontWeight: 'bold', color: '#F97316' }}&gt;i % 7 == 0&lt;/span&gt; 判断 i 是不是 7 的倍数 —— 统计个数、求和、找偶数，全是这个套路。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1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模块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5 ·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程序三大结构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723900" y="2019300"/>
            <a:ext cx="59055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723900" y="2019300"/>
            <a:ext cx="5905500" cy="923925"/>
          </a:xfrm>
          <a:custGeom>
            <a:pathLst>
              <a:path w="620" h="97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89"/>
                </a:lnTo>
                <a:cubicBezTo>
                  <a:pt x="6" y="93"/>
                  <a:pt x="9" y="96"/>
                  <a:pt x="13" y="97"/>
                </a:cubicBezTo>
                <a:cubicBezTo>
                  <a:pt x="5" y="96"/>
                  <a:pt x="0" y="90"/>
                  <a:pt x="0" y="8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33450" y="219075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顺序结构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从上到下依次执行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933450" y="2486025"/>
            <a:ext cx="54292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没有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if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、没有循环时，代码一行一行往下走，不会跳过也不会回头。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723900" y="3095625"/>
            <a:ext cx="5905500" cy="1209675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723900" y="3095625"/>
            <a:ext cx="5905500" cy="1209675"/>
          </a:xfrm>
          <a:custGeom>
            <a:pathLst>
              <a:path w="620" h="127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19"/>
                </a:lnTo>
                <a:cubicBezTo>
                  <a:pt x="6" y="123"/>
                  <a:pt x="9" y="126"/>
                  <a:pt x="13" y="127"/>
                </a:cubicBezTo>
                <a:cubicBezTo>
                  <a:pt x="5" y="126"/>
                  <a:pt x="0" y="120"/>
                  <a:pt x="0" y="11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33450" y="326707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分支结构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—— if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条件表达式写法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33450" y="3562350"/>
            <a:ext cx="5429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条件必须写在圆括号里；「大于等于」要写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en-US" sz="1200" b="1">
                <a:solidFill>
                  <a:srgbClr val="EC4899"/>
                </a:solidFill>
                <a:latin typeface="Microsoft YaHei"/>
                <a:ea typeface="Microsoft YaHei"/>
              </a:rPr>
              <a:t>&gt;=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，键盘上打不出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≥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；判断相等用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==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723900" y="4457700"/>
            <a:ext cx="5905500" cy="1209675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723900" y="4457700"/>
            <a:ext cx="5905500" cy="1209675"/>
          </a:xfrm>
          <a:custGeom>
            <a:pathLst>
              <a:path w="620" h="127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19"/>
                </a:lnTo>
                <a:cubicBezTo>
                  <a:pt x="6" y="123"/>
                  <a:pt x="9" y="126"/>
                  <a:pt x="13" y="127"/>
                </a:cubicBezTo>
                <a:cubicBezTo>
                  <a:pt x="5" y="126"/>
                  <a:pt x="0" y="120"/>
                  <a:pt x="0" y="11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33450" y="462915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简单循环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循环规律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取模运算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33450" y="4924425"/>
            <a:ext cx="5429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for / while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都要会；</a:t>
            </a: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「循环</a:t>
            </a: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 + </a:t>
            </a:r>
            <a:r>
              <a:rPr lang="zh-CN" sz="1200" b="1">
                <a:solidFill>
                  <a:srgbClr val="F97316"/>
                </a:solidFill>
                <a:latin typeface="Microsoft YaHei"/>
                <a:ea typeface="Microsoft YaHei"/>
              </a:rPr>
              <a:t>取模」是编程题的核心套路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：判断倍数、统计、累加全靠它。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896100" y="2114550"/>
            <a:ext cx="4629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编程题核心套路</a:t>
            </a:r>
            <a:r>
              <a:rPr lang="en-US" sz="1425" b="1">
                <a:solidFill>
                  <a:srgbClr val="1A1A1A"/>
                </a:solidFill>
                <a:latin typeface="Microsoft YaHei"/>
                <a:ea typeface="Microsoft YaHei"/>
              </a:rPr>
              <a:t> · </a:t>
            </a:r>
            <a:r>
              <a:rPr lang="zh-CN" sz="1425" b="1">
                <a:solidFill>
                  <a:srgbClr val="1A1A1A"/>
                </a:solidFill>
                <a:latin typeface="Microsoft YaHei"/>
                <a:ea typeface="Microsoft YaHei"/>
              </a:rPr>
              <a:t>看懂这段就够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896100" y="4752975"/>
            <a:ext cx="4629150" cy="819150"/>
          </a:xfrm>
          <a:prstGeom prst="roundRect">
            <a:avLst>
              <a:gd name="adj" fmla="val 11628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048500" y="4867275"/>
            <a:ext cx="4324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i % 7 == 0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判断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i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是不是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的倍数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统计个数、求和、找偶数，全是这个套路。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125200" y="65055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11 / 15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896100" y="2447925"/>
            <a:ext cx="4629150" cy="2190750"/>
          </a:xfrm>
          <a:prstGeom prst="roundRect">
            <a:avLst>
              <a:gd name="adj" fmla="val 3478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55" name=""/>
          <p:cNvSpPr txBox="1"/>
          <p:nvPr/>
        </p:nvSpPr>
        <p:spPr>
          <a:xfrm rot="0" flipH="0" flipV="0">
            <a:off x="7048500" y="2581275"/>
            <a:ext cx="4324350" cy="1924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int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n, sum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cin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&gt;&gt;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n;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(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int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i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; i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&lt;=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n; i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++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(i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%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7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==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12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    sum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i;</a:t>
            </a:r>
            <a:r>
              <a:rPr sz="1125">
                <a:solidFill>
                  <a:srgbClr val="6A737D"/>
                </a:solidFill>
                <a:latin typeface="Menlo"/>
                <a:ea typeface="Menlo"/>
              </a:rPr>
              <a:t>   // 是 7 的倍数就累加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   }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cout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&lt;&lt;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sum </a:t>
            </a:r>
            <a:r>
              <a:rPr sz="1125">
                <a:solidFill>
                  <a:srgbClr val="D73A49"/>
                </a:solidFill>
                <a:latin typeface="Menlo"/>
                <a:ea typeface="Menlo"/>
              </a:rPr>
              <a:t>&lt;&lt;</a:t>
            </a:r>
            <a:r>
              <a:rPr sz="1125">
                <a:solidFill>
                  <a:srgbClr val="24292E"/>
                </a:solidFill>
                <a:latin typeface="Menlo"/>
                <a:ea typeface="Menlo"/>
              </a:rPr>
              <a:t> endl;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56" name="" descr="&lt;Slide style={{ width: 1280, height: 720, background: '#1E293B', position: 'relative', overflow: 'hidden' }}&gt;&#10;  {/* 装饰圆 */}&#10;  &lt;Box style={{ position: 'absolute', top: -80, left: -60, width: 320, height: 320, background: 'rgba(249,115,22,0.15)', borderRadius: 160 }} /&gt;&#10;  &lt;Box style={{ position: 'absolute', bottom: -100, right: 60, width: 280, height: 280, background: 'rgba(236,72,153,0.15)', borderRadius: 140 }} /&gt;&#10;  {/* 主内容 */}&#10;  &lt;Box style={{ width: 1280, height: 720, padding: '0 110px', flexDirection: 'column', justifyContent: 'center', gap: 20, zIndex: 1 }}&gt;&#10;    &lt;Text style={{ fontSize: 150, fontWeight: 'bold', color: 'rgba(255,255,255,0.12)', lineHeight: 1 }}&gt;03&lt;/Text&gt;&#10;    &lt;Text style={{ fontSize: 62, fontWeight: 'bold', color: '#FFFFFF' }}&gt;易错点与备考&lt;/Text&gt;&#10;    &lt;Text style={{ fontSize: 24, fontWeight: 'bold', color: '#F97316' }}&gt;把易错点，变成得分点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-571500" y="-762000"/>
            <a:ext cx="3048000" cy="3048000"/>
          </a:xfrm>
          <a:custGeom>
            <a:pathLst>
              <a:path w="320" h="320">
                <a:moveTo>
                  <a:pt x="299" y="80"/>
                </a:moveTo>
                <a:cubicBezTo>
                  <a:pt x="337" y="147"/>
                  <a:pt x="322" y="232"/>
                  <a:pt x="264" y="282"/>
                </a:cubicBezTo>
                <a:cubicBezTo>
                  <a:pt x="206" y="331"/>
                  <a:pt x="120" y="333"/>
                  <a:pt x="60" y="285"/>
                </a:cubicBezTo>
                <a:lnTo>
                  <a:pt x="60" y="80"/>
                </a:lnTo>
                <a:lnTo>
                  <a:pt x="299" y="80"/>
                </a:lnTo>
                <a:close/>
              </a:path>
            </a:pathLst>
          </a:custGeom>
          <a:solidFill>
            <a:srgbClr val="F97316">
              <a:alpha val="15000"/>
            </a:srgbClr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8953500" y="5143500"/>
            <a:ext cx="2667000" cy="2667000"/>
          </a:xfrm>
          <a:custGeom>
            <a:pathLst>
              <a:path w="280" h="280">
                <a:moveTo>
                  <a:pt x="144" y="0"/>
                </a:moveTo>
                <a:cubicBezTo>
                  <a:pt x="187" y="1"/>
                  <a:pt x="228" y="23"/>
                  <a:pt x="253" y="58"/>
                </a:cubicBezTo>
                <a:cubicBezTo>
                  <a:pt x="279" y="93"/>
                  <a:pt x="287" y="138"/>
                  <a:pt x="274" y="180"/>
                </a:cubicBezTo>
                <a:lnTo>
                  <a:pt x="6" y="180"/>
                </a:lnTo>
                <a:cubicBezTo>
                  <a:pt x="-7" y="138"/>
                  <a:pt x="1" y="92"/>
                  <a:pt x="28" y="56"/>
                </a:cubicBezTo>
                <a:cubicBezTo>
                  <a:pt x="54" y="21"/>
                  <a:pt x="96" y="0"/>
                  <a:pt x="140" y="0"/>
                </a:cubicBezTo>
                <a:close/>
              </a:path>
            </a:pathLst>
          </a:custGeom>
          <a:solidFill>
            <a:srgbClr val="EC4899">
              <a:alpha val="15000"/>
            </a:srgbClr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47750" y="1885950"/>
            <a:ext cx="100965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2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47750" y="3790950"/>
            <a:ext cx="100965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易错点与备考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047750" y="4695825"/>
            <a:ext cx="10096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97316"/>
                </a:solidFill>
                <a:latin typeface="Microsoft YaHei"/>
                <a:ea typeface="Microsoft YaHei"/>
              </a:rPr>
              <a:t>把易错点，变成得分点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63" name="" descr="&lt;Slide style={{ width: 1280, height: 720, background: '#FAF7F2' }}&gt;&#10;  {/* A 区标题 */}&#10;  &lt;Box style={{ height: 120, padding: '28px 70px 0 70px' }}&gt;&#10;    &lt;Text style={{ fontSize: 34, fontWeight: 'bold', color: '#1A1A1A' }}&gt;易错点 TOP5 —— 这些坑每年都有人踩&lt;/Text&gt;&#10;    &lt;Box style={{ width: 64, height: 6, background: '#EC4899', borderRadius: 3, marginTop: 10 }} /&gt;&#10;  &lt;/Box&gt;&#10;  {/* B 区：左锚点 + 右榜单 */}&#10;  &lt;Box style={{ height: 540, padding: '22px 70px 0 70px', flexDirection: 'row', gap: 44 }}&gt;&#10;    {/* 左锚点 */}&#10;    &lt;Box style={{ width: 260, justifyContent: 'center', gap: 8 }}&gt;&#10;      &lt;Text style={{ fontSize: 96, fontWeight: 'bold', lineHeight: 1, backgroundImage: 'linear-gradient(135deg, #F97316 0%, #EC4899 100%)', backgroundClip: 'text', color: 'transparent' }}&gt;TOP5&lt;/Text&gt;&#10;      &lt;Text style={{ fontSize: 20, fontWeight: 'bold', color: '#1A1A1A' }}&gt;最容易丢分的五个坑&lt;/Text&gt;&#10;      &lt;Text style={{ fontSize: 16, color: '#64748B', lineHeight: 1.6 }}&gt;全是历年真题里反复出现的陷阱，考前过一遍，考场上多拿 10 分。&lt;/Text&gt;&#10;    &lt;/Box&gt;&#10;    {/* 右榜单 */}&#10;    &lt;Box style={{ flex: 1, flexDirection: 'column', gap: 13, justifyContent: 'center' }}&gt;&#10;      &lt;Box style={{ flexDirection: 'row', alignItems: 'center', gap: 18, background: '#FFFFFF', borderRadius: 12, border: '1px solid #F1E9DF', padding: '13px 20px' }}&gt;&#10;        &lt;Box style={{ width: 44, height: 44, background: '#F97316', borderRadius: 22, alignItems: 'center', justifyContent: 'center', flexShrink: 0 }}&gt;&#10;          &lt;Text style={{ fontSize: 21, fontWeight: 'bold', color: '#FFFFFF' }}&gt;1&lt;/Text&gt;&#10;        &lt;/Box&gt;&#10;        &lt;Text style={{ fontSize: 18.5, color: '#1A1A1A', lineHeight: 1.5 }}&gt;&lt;span style={{ fontWeight: 'bold' }}&gt;7 / 2 = 3，不是 3.5&lt;/span&gt; —— 整数除法直接丢弃小数，要 3.5 得写 7.0 / 2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F97316', borderRadius: 22, alignItems: 'center', justifyContent: 'center', flexShrink: 0 }}&gt;&#10;          &lt;Text style={{ fontSize: 21, fontWeight: 'bold', color: '#FFFFFF' }}&gt;2&lt;/Text&gt;&#10;        &lt;/Box&gt;&#10;        &lt;Text style={{ fontSize: 18.5, color: '#1A1A1A', lineHeight: 1.5 }}&gt;&lt;span style={{ fontWeight: 'bold' }}&gt;= 是赋值，== 才是判断相等&lt;/span&gt; —— if 里写成 = 是最常见的低级错误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EC4899', borderRadius: 22, alignItems: 'center', justifyContent: 'center', flexShrink: 0 }}&gt;&#10;          &lt;Text style={{ fontSize: 21, fontWeight: 'bold', color: '#FFFFFF' }}&gt;3&lt;/Text&gt;&#10;        &lt;/Box&gt;&#10;        &lt;Text style={{ fontSize: 18.5, color: '#1A1A1A', lineHeight: 1.5 }}&gt;&lt;span style={{ fontWeight: 'bold' }}&gt;if 不带花括号只管一条语句&lt;/span&gt; —— 缩进好看不代表归它管，后面的话照样执行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EC4899', borderRadius: 22, alignItems: 'center', justifyContent: 'center', flexShrink: 0 }}&gt;&#10;          &lt;Text style={{ fontSize: 21, fontWeight: 'bold', color: '#FFFFFF' }}&gt;4&lt;/Text&gt;&#10;        &lt;/Box&gt;&#10;        &lt;Text style={{ fontSize: 18.5, color: '#1A1A1A', lineHeight: 1.5 }}&gt;&lt;span style={{ fontWeight: 'bold' }}&gt;-7 % 3 = -1&lt;/span&gt; —— 余数的符号跟被除数一致；% 的两边必须都是整数&lt;/Text&gt;&#10;      &lt;/Box&gt;&#10;      &lt;Box style={{ flexDirection: 'row', alignItems: 'center', gap: 18, background: '#FFFFFF', borderRadius: 12, border: '1px solid #F1E9DF', padding: '13px 20px' }}&gt;&#10;        &lt;Box style={{ width: 44, height: 44, background: '#1E293B', borderRadius: 22, alignItems: 'center', justifyContent: 'center', flexShrink: 0 }}&gt;&#10;          &lt;Text style={{ fontSize: 21, fontWeight: 'bold', color: '#FFFFFF' }}&gt;5&lt;/Text&gt;&#10;        &lt;/Box&gt;&#10;        &lt;Text style={{ fontSize: 18.5, color: '#1A1A1A', lineHeight: 1.5 }}&gt;&lt;span style={{ fontWeight: 'bold' }}&gt;{'endl 和 &quot;' + String.fromCharCode(92, 0x200B, 110) + '&quot; 不是完全一样'}&lt;/span&gt; —— endl 换行还要刷新缓冲区；注释也不能嵌套&lt;/Text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3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易错点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TOP5 ——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这些坑每年都有人踩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66750" y="2781300"/>
            <a:ext cx="2476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gradFill>
                  <a:gsLst>
                    <a:gs pos="0">
                      <a:srgbClr val="F97316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TOP5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66750" y="3962400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Microsoft YaHei"/>
                <a:ea typeface="Microsoft YaHei"/>
              </a:rPr>
              <a:t>最容易丢分的五个坑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66750" y="4267200"/>
            <a:ext cx="2476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全是历年真题里反复出现的陷阱，考前过一遍，考场上多拿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10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分。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562350" y="1905000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3752850" y="20288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905250" y="2114550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343400" y="2076450"/>
            <a:ext cx="5324475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7 / 2 = 3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，不是</a:t>
            </a: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 3.5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整数除法直接丢弃小数，要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3.5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得写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7.0 / 2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562350" y="2695575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3752850" y="28194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905250" y="2905125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343400" y="2867025"/>
            <a:ext cx="5153025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=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是赋值，</a:t>
            </a: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==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才是判断相等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if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里写成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=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是最常见的低级错误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3562350" y="3486150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3752850" y="36099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905250" y="3695700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343400" y="3657600"/>
            <a:ext cx="6000750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if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不带花括号只管一条语句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缩进好看不代表归它管，后面的话照样执行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562350" y="4276725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3752850" y="44005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905250" y="4486275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343400" y="4448175"/>
            <a:ext cx="5295900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-7 % 3 = -1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余数的符号跟被除数一致；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%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的两边必须都是整数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3562350" y="5067300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3752850" y="51911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905250" y="5276850"/>
            <a:ext cx="114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343400" y="5238750"/>
            <a:ext cx="5981700" cy="3238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endl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和</a:t>
            </a:r>
            <a:r>
              <a:rPr lang="en-US" sz="1388" b="1">
                <a:solidFill>
                  <a:srgbClr val="1A1A1A"/>
                </a:solidFill>
                <a:latin typeface="Microsoft YaHei"/>
                <a:ea typeface="Microsoft YaHei"/>
              </a:rPr>
              <a:t> "\​n" </a:t>
            </a:r>
            <a:r>
              <a:rPr lang="zh-CN" sz="1388" b="1">
                <a:solidFill>
                  <a:srgbClr val="1A1A1A"/>
                </a:solidFill>
                <a:latin typeface="Microsoft YaHei"/>
                <a:ea typeface="Microsoft YaHei"/>
              </a:rPr>
              <a:t>不是完全一样</a:t>
            </a:r>
            <a:r>
              <a:rPr lang="en-US" sz="1388">
                <a:solidFill>
                  <a:srgbClr val="1A1A1A"/>
                </a:solidFill>
                <a:latin typeface="Microsoft YaHei"/>
                <a:ea typeface="Microsoft YaHei"/>
              </a:rPr>
              <a:t> —— endl </a:t>
            </a:r>
            <a:r>
              <a:rPr lang="zh-CN" sz="1388">
                <a:solidFill>
                  <a:srgbClr val="1A1A1A"/>
                </a:solidFill>
                <a:latin typeface="Microsoft YaHei"/>
                <a:ea typeface="Microsoft YaHei"/>
              </a:rPr>
              <a:t>换行还要刷新缓冲区；注释也不能嵌套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4" name="" descr="&lt;Slide style={{ width: 1280, height: 720, background: '#FAF7F2' }}&gt;&#10;  {/* A 区标题 */}&#10;  &lt;Box style={{ height: 120, padding: '28px 70px 0 70px' }}&gt;&#10;    &lt;Text style={{ fontSize: 34, fontWeight: 'bold', color: '#1A1A1A' }}&gt;考前提醒 —— 细节决定成败&lt;/Text&gt;&#10;    &lt;Box style={{ width: 64, height: 6, background: '#F97316', borderRadius: 3, marginTop: 10 }} /&gt;&#10;  &lt;/Box&gt;&#10;  {/* B 区 60:40 */}&#10;  &lt;Box style={{ height: 540, padding: '26px 70px 0 70px', flexDirection: 'row', gap: 40 }}&gt;&#10;    {/* 左 60% 格式要求 */}&#10;    &lt;Box style={{ width: 620, flexDirection: 'column', gap: 16, justifyContent: 'center' }}&gt;&#10;      &lt;Box style={{ background: '#FFFFFF', borderRadius: 14, border: '1px solid #F1E9DF', borderLeft: '6px solid #EC4899', padding: '18px 22px', flexDirection: 'column', gap: 5 }}&gt;&#10;        &lt;Text style={{ fontSize: 21, fontWeight: 'bold', color: '#1A1A1A' }}&gt;输出格式必须和题目完全一致&lt;/Text&gt;&#10;        &lt;Text style={{ fontSize: 16, color: '#64748B', lineHeight: 1.6 }}&gt;大小写、空格、标点、换行都要一模一样 —— &lt;span style={{ fontWeight: 'bold', color: '#EC4899' }}&gt;多一个空格、少一个换行，直接扣分&lt;/span&gt;。交卷前逐字符对照样例输出。&lt;/Text&gt;&#10;      &lt;/Box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提前熟悉 Dev-C++ 全流程&lt;/Text&gt;&#10;        &lt;Text style={{ fontSize: 16, color: '#64748B', lineHeight: 1.6 }}&gt;新建文件 → 写代码 → 编译 → 运行，考试是上机实操，软件不熟会白白浪费时间。&lt;/Text&gt;&#10;      &lt;/Box&gt;&#10;      &lt;Box style={{ background: '#FFFFFF', borderRadius: 14, border: '1px solid #F1E9DF', borderLeft: '6px solid #F97316', padding: '18px 22px', flexDirection: 'column', gap: 5 }}&gt;&#10;        &lt;Text style={{ fontSize: 21, fontWeight: 'bold', color: '#1A1A1A' }}&gt;客观题逐项排除，杜绝概念混淆&lt;/Text&gt;&#10;        &lt;Text style={{ fontSize: 16, color: '#64748B', lineHeight: 1.6 }}&gt;单选的迷惑选项很刁钻，拿不准就逐个排掉明显错的，再对比剩下两个。&lt;/Text&gt;&#10;      &lt;/Box&gt;&#10;    &lt;/Box&gt;&#10;    {/* 右 40% 时间条 SVG */}&#10;    &lt;Box style={{ flex: 1, background: '#FFFFFF', borderRadius: 16, border: '1px solid #F1E9DF', padding: '26px 26px', flexDirection: 'column', justifyContent: 'center', gap: 16 }}&gt;&#10;      &lt;Text style={{ fontSize: 21, fontWeight: 'bold', color: '#1A1A1A' }}&gt;答题时间这样分&lt;/Text&gt;&#10;      &lt;svg width={380} height={54} viewBox='0 0 380 54'&gt;&#10;        &lt;rect x='0' y='10' width='95' height='34' rx='8' fill='#F97316' /&gt;&#10;        &lt;text x='47' y='32' fontSize='15' fontWeight='bold' fill='#FFFFFF' textAnchor='middle'&gt;20min&lt;/text&gt;&#10;        &lt;rect x='103' y='10' width='190' height='34' rx='8' fill='#EC4899' /&gt;&#10;        &lt;text x='198' y='32' fontSize='15' fontWeight='bold' fill='#FFFFFF' textAnchor='middle'&gt;40min&lt;/text&gt;&#10;        &lt;rect x='301' y='10' width='48' height='34' rx='8' fill='#1E293B' /&gt;&#10;        &lt;text x='325' y='32' fontSize='13' fontWeight='bold' fill='#FFFFFF' textAnchor='middle'&gt;10&lt;/text&gt;&#10;      &lt;/svg&gt;&#10;      &lt;Box style={{ flexDirection: 'column', gap: 10 }}&gt;&#10;        &lt;Box style={{ flexDirection: 'row', alignItems: 'center', gap: 10 }}&gt;&#10;          &lt;Box style={{ width: 14, height: 14, background: '#F97316', borderRadius: 4 }} /&gt;&#10;          &lt;Text style={{ fontSize: 16, color: '#1A1A1A' }}&gt;客观题：单选 + 判断，20 分钟内搞定&lt;/Text&gt;&#10;        &lt;/Box&gt;&#10;        &lt;Box style={{ flexDirection: 'row', alignItems: 'center', gap: 10 }}&gt;&#10;          &lt;Box style={{ width: 14, height: 14, background: '#EC4899', borderRadius: 4 }} /&gt;&#10;          &lt;Text style={{ fontSize: 16, color: '#1A1A1A' }}&gt;编程题：2 道大题，40 分钟完成&lt;/Text&gt;&#10;        &lt;/Box&gt;&#10;        &lt;Box style={{ flexDirection: 'row', alignItems: 'center', gap: 10 }}&gt;&#10;          &lt;Box style={{ width: 14, height: 14, background: '#1E293B', borderRadius: 4 }} /&gt;&#10;          &lt;Text style={{ fontSize: 16, color: '#1A1A1A' }}&gt;预留 5~10 分钟：重点检查格式和语法&lt;/Text&gt;&#10;        &lt;/Box&gt;&#10;      &lt;/Box&gt;&#10;    &lt;/Box&gt;&#10;  &lt;/Box&gt;&#10;  {/* C 区页脚 */}&#10;  &lt;Box style={{ height: 60, padding: '0 70px 20px 70px', flexDirection: 'row', justifyContent: 'space-between', alignItems: 'flex-end' }}&gt;&#10;    &lt;Box style={{ flexDirection: 'row', alignItems: 'center', gap: 10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&lt;/Text&gt;&#10;    &lt;/Box&gt;&#10;    &lt;Text style={{ fontSize: 14, color: '#64748B' }}&gt;14 / 15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66750" y="2667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考前提醒</a:t>
            </a:r>
            <a:r>
              <a:rPr lang="en-US" sz="2550" b="1">
                <a:solidFill>
                  <a:srgbClr val="1A1A1A"/>
                </a:solidFill>
                <a:latin typeface="Microsoft YaHei"/>
                <a:ea typeface="Microsoft YaHei"/>
              </a:rPr>
              <a:t> —— </a:t>
            </a:r>
            <a:r>
              <a:rPr lang="zh-CN" sz="2550" b="1">
                <a:solidFill>
                  <a:srgbClr val="1A1A1A"/>
                </a:solidFill>
                <a:latin typeface="Microsoft YaHei"/>
                <a:ea typeface="Microsoft YaHei"/>
              </a:rPr>
              <a:t>细节决定成败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66750" y="752475"/>
            <a:ext cx="6096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723900" y="1990725"/>
            <a:ext cx="5905500" cy="1228725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723900" y="1990725"/>
            <a:ext cx="5905500" cy="1228725"/>
          </a:xfrm>
          <a:custGeom>
            <a:pathLst>
              <a:path w="620" h="129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1"/>
                </a:lnTo>
                <a:cubicBezTo>
                  <a:pt x="6" y="125"/>
                  <a:pt x="9" y="128"/>
                  <a:pt x="13" y="129"/>
                </a:cubicBezTo>
                <a:cubicBezTo>
                  <a:pt x="5" y="128"/>
                  <a:pt x="0" y="122"/>
                  <a:pt x="0" y="115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33450" y="216217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输出格式必须和题目完全一致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33450" y="2457450"/>
            <a:ext cx="5429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大小写、空格、标点、换行都要一模一样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200" b="1">
                <a:solidFill>
                  <a:srgbClr val="EC4899"/>
                </a:solidFill>
                <a:latin typeface="Microsoft YaHei"/>
                <a:ea typeface="Microsoft YaHei"/>
              </a:rPr>
              <a:t>多一个空格、少一个换行，直接扣分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。交卷前逐字符对照样例输出。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23900" y="3371850"/>
            <a:ext cx="5905500" cy="1228725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723900" y="3371850"/>
            <a:ext cx="5905500" cy="1228725"/>
          </a:xfrm>
          <a:custGeom>
            <a:pathLst>
              <a:path w="620" h="129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1"/>
                </a:lnTo>
                <a:cubicBezTo>
                  <a:pt x="6" y="125"/>
                  <a:pt x="9" y="128"/>
                  <a:pt x="13" y="129"/>
                </a:cubicBezTo>
                <a:cubicBezTo>
                  <a:pt x="5" y="128"/>
                  <a:pt x="0" y="122"/>
                  <a:pt x="0" y="115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33450" y="3543300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提前熟悉</a:t>
            </a:r>
            <a:r>
              <a:rPr lang="en-US" sz="1575" b="1">
                <a:solidFill>
                  <a:srgbClr val="1A1A1A"/>
                </a:solidFill>
                <a:latin typeface="Microsoft YaHei"/>
                <a:ea typeface="Microsoft YaHei"/>
              </a:rPr>
              <a:t> Dev-C++ </a:t>
            </a: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全流程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33450" y="3838575"/>
            <a:ext cx="5429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新建文件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写代码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编译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运行，考试是上机实操，软件不熟会白白浪费时间。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23900" y="4752975"/>
            <a:ext cx="5905500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723900" y="4752975"/>
            <a:ext cx="5905500" cy="933450"/>
          </a:xfrm>
          <a:custGeom>
            <a:pathLst>
              <a:path w="620" h="98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90"/>
                </a:lnTo>
                <a:cubicBezTo>
                  <a:pt x="6" y="94"/>
                  <a:pt x="9" y="97"/>
                  <a:pt x="13" y="98"/>
                </a:cubicBezTo>
                <a:cubicBezTo>
                  <a:pt x="5" y="97"/>
                  <a:pt x="0" y="91"/>
                  <a:pt x="0" y="8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933450" y="4924425"/>
            <a:ext cx="5429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客观题逐项排除，杜绝概念混淆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33450" y="5219700"/>
            <a:ext cx="5429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单选的迷惑选项很刁钻，拿不准就逐个排掉明显错的，再对比剩下两个。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953250" y="1390650"/>
            <a:ext cx="4572000" cy="48958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1E9DF"/>
            </a:solidFill>
            <a:prstDash val="solid"/>
          </a:ln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200900" y="2924175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Microsoft YaHei"/>
                <a:ea typeface="Microsoft YaHei"/>
              </a:rPr>
              <a:t>答题时间这样分</a:t>
            </a:r>
            <a:endParaRPr/>
          </a:p>
        </p:txBody>
      </p:sp>
      <p:pic>
        <p:nvPicPr>
          <p:cNvPr id="1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00900" y="3324225"/>
            <a:ext cx="3619500" cy="514350"/>
          </a:xfrm>
          <a:prstGeom prst="rect">
            <a:avLst/>
          </a:prstGeom>
          <a:ln/>
        </p:spPr>
      </p:pic>
      <p:sp>
        <p:nvSpPr>
          <p:cNvPr id="113" name=""/>
          <p:cNvSpPr/>
          <p:nvPr/>
        </p:nvSpPr>
        <p:spPr>
          <a:xfrm rot="0" flipH="0" flipV="0">
            <a:off x="7200900" y="401955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429500" y="3990975"/>
            <a:ext cx="2562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客观题：单选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判断，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20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分钟内搞定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200900" y="430530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429500" y="4276725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编程题：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2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道大题，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40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分钟完成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200900" y="459105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429500" y="4562475"/>
            <a:ext cx="2609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预留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> 5~10 </a:t>
            </a:r>
            <a:r>
              <a:rPr lang="zh-CN" sz="1200">
                <a:solidFill>
                  <a:srgbClr val="1A1A1A"/>
                </a:solidFill>
                <a:latin typeface="Microsoft YaHei"/>
                <a:ea typeface="Microsoft YaHei"/>
              </a:rPr>
              <a:t>分钟：重点检查格式和语法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66750" y="6362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52475" y="643890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66800" y="64389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23" name="" descr="&lt;Slide style={{ width: 1280, height: 720, background: '#FAF7F2', position: 'relative', overflow: 'hidden' }}&gt;&#10;  {/* 装饰圆 */}&#10;  &lt;Box style={{ position: 'absolute', top: -90, right: -70, width: 300, height: 300, background: 'rgba(249,115,22,0.10)', borderRadius: 150 }} /&gt;&#10;  &lt;Box style={{ position: 'absolute', bottom: -80, left: -60, width: 260, height: 260, background: 'rgba(236,72,153,0.10)', borderRadius: 130 }} /&gt;&#10;  {/* 主内容 */}&#10;  &lt;Box style={{ width: 1280, height: 720, flexDirection: 'column', alignItems: 'center', justifyContent: 'center', gap: 30, zIndex: 1 }}&gt;&#10;    &lt;Text style={{ fontSize: 64, fontWeight: 'bold', textAlign: 'center', lineHeight: 1.35, backgroundImage: 'linear-gradient(135deg, #F97316 0%, #EC4899 100%)', backgroundClip: 'text', color: 'transparent' }}&gt;把易错点，&lt;br /&gt;变成得分点。&lt;/Text&gt;&#10;    &lt;Box style={{ width: 70, height: 6, background: '#F97316', borderRadius: 3 }} /&gt;&#10;    &lt;Text style={{ fontSize: 22, color: '#64748B' }}&gt;下节课：模拟卷实战 —— 带着 TOP5 清单来刷题&lt;/Text&gt;&#10;    &lt;Box style={{ flexDirection: 'row', alignItems: 'center', gap: 10, marginTop: 8 }}&gt;&#10;      &lt;Box style={{ width: 32, height: 32, background: '#F97316', borderRadius: 16, alignItems: 'center', justifyContent: 'center' }}&gt;&#10;        &lt;Text style={{ fontSize: 14, color: '#FFFFFF', fontWeight: 'bold' }}&gt;{'{ }'}&lt;/Text&gt;&#10;      &lt;/Box&gt;&#10;      &lt;Text style={{ fontSize: 14, color: '#64748B' }}&gt;C++ 一级备考第一课 · 15 / 15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10001250" y="-857250"/>
            <a:ext cx="2857500" cy="2857500"/>
          </a:xfrm>
          <a:custGeom>
            <a:pathLst>
              <a:path w="300" h="300">
                <a:moveTo>
                  <a:pt x="230" y="277"/>
                </a:moveTo>
                <a:cubicBezTo>
                  <a:pt x="174" y="312"/>
                  <a:pt x="102" y="307"/>
                  <a:pt x="52" y="264"/>
                </a:cubicBezTo>
                <a:cubicBezTo>
                  <a:pt x="2" y="221"/>
                  <a:pt x="-14" y="150"/>
                  <a:pt x="13" y="90"/>
                </a:cubicBezTo>
                <a:lnTo>
                  <a:pt x="230" y="90"/>
                </a:lnTo>
                <a:close/>
              </a:path>
            </a:pathLst>
          </a:cu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-571500" y="5143500"/>
            <a:ext cx="2476500" cy="2476500"/>
          </a:xfrm>
          <a:custGeom>
            <a:pathLst>
              <a:path w="260" h="260">
                <a:moveTo>
                  <a:pt x="133" y="0"/>
                </a:moveTo>
                <a:cubicBezTo>
                  <a:pt x="176" y="1"/>
                  <a:pt x="216" y="23"/>
                  <a:pt x="239" y="59"/>
                </a:cubicBezTo>
                <a:cubicBezTo>
                  <a:pt x="262" y="95"/>
                  <a:pt x="266" y="140"/>
                  <a:pt x="250" y="180"/>
                </a:cubicBezTo>
                <a:lnTo>
                  <a:pt x="60" y="180"/>
                </a:lnTo>
                <a:lnTo>
                  <a:pt x="60" y="20"/>
                </a:lnTo>
                <a:cubicBezTo>
                  <a:pt x="81" y="7"/>
                  <a:pt x="105" y="0"/>
                  <a:pt x="130" y="0"/>
                </a:cubicBezTo>
                <a:close/>
              </a:path>
            </a:pathLst>
          </a:custGeom>
          <a:solidFill>
            <a:srgbClr val="EC4899">
              <a:alpha val="10000"/>
            </a:srgbClr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257675" y="1666875"/>
            <a:ext cx="3676650" cy="19812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4800" b="1">
                <a:gradFill>
                  <a:gsLst>
                    <a:gs pos="0">
                      <a:srgbClr val="F97316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把易错点，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4800" b="1">
                <a:gradFill>
                  <a:gsLst>
                    <a:gs pos="0">
                      <a:srgbClr val="F97316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变成得分点。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762625" y="3933825"/>
            <a:ext cx="6667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00475" y="4276725"/>
            <a:ext cx="4600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下节课：模拟卷实战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带着</a:t>
            </a:r>
            <a:r>
              <a:rPr lang="en-US" sz="1650">
                <a:solidFill>
                  <a:srgbClr val="64748B"/>
                </a:solidFill>
                <a:latin typeface="Microsoft YaHei"/>
                <a:ea typeface="Microsoft YaHei"/>
              </a:rPr>
              <a:t> TOP5 </a:t>
            </a:r>
            <a:r>
              <a:rPr lang="zh-CN" sz="1650">
                <a:solidFill>
                  <a:srgbClr val="64748B"/>
                </a:solidFill>
                <a:latin typeface="Microsoft YaHei"/>
                <a:ea typeface="Microsoft YaHei"/>
              </a:rPr>
              <a:t>清单来刷题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010150" y="48958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095875" y="4972050"/>
            <a:ext cx="142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{ }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410200" y="497205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C++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一级备考第一课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2026-08-30T12:21:04Z</dcterms:created>
  <dcterms:modified xsi:type="dcterms:W3CDTF">2026-08-30T12:21:04Z</dcterms:modified>
</cp:coreProperties>
</file>